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ntonio Ultra-Bold" charset="1" panose="02000803000000000000"/>
      <p:regular r:id="rId27"/>
    </p:embeddedFont>
    <p:embeddedFont>
      <p:font typeface="Raleway Medium" charset="1" panose="00000000000000000000"/>
      <p:regular r:id="rId28"/>
    </p:embeddedFont>
    <p:embeddedFont>
      <p:font typeface="Antonio" charset="1" panose="02000503000000000000"/>
      <p:regular r:id="rId29"/>
    </p:embeddedFont>
    <p:embeddedFont>
      <p:font typeface="Raleway" charset="1" panose="00000000000000000000"/>
      <p:regular r:id="rId30"/>
    </p:embeddedFont>
    <p:embeddedFont>
      <p:font typeface="Antonio Bold" charset="1" panose="02000803000000000000"/>
      <p:regular r:id="rId31"/>
    </p:embeddedFont>
    <p:embeddedFont>
      <p:font typeface="Raleway Bold" charset="1" panose="00000000000000000000"/>
      <p:regular r:id="rId32"/>
    </p:embeddedFont>
    <p:embeddedFont>
      <p:font typeface="Raleway Bold Italics" charset="1" panose="00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1FA9"/>
        </a:solidFill>
      </p:bgPr>
    </p:bg>
    <p:spTree>
      <p:nvGrpSpPr>
        <p:cNvPr id="1" name=""/>
        <p:cNvGrpSpPr/>
        <p:nvPr/>
      </p:nvGrpSpPr>
      <p:grpSpPr>
        <a:xfrm>
          <a:off x="0" y="0"/>
          <a:ext cx="0" cy="0"/>
          <a:chOff x="0" y="0"/>
          <a:chExt cx="0" cy="0"/>
        </a:xfrm>
      </p:grpSpPr>
      <p:sp>
        <p:nvSpPr>
          <p:cNvPr name="TextBox 2" id="2"/>
          <p:cNvSpPr txBox="true"/>
          <p:nvPr/>
        </p:nvSpPr>
        <p:spPr>
          <a:xfrm rot="0">
            <a:off x="489602" y="7667708"/>
            <a:ext cx="17308795" cy="3113781"/>
          </a:xfrm>
          <a:prstGeom prst="rect">
            <a:avLst/>
          </a:prstGeom>
        </p:spPr>
        <p:txBody>
          <a:bodyPr anchor="t" rtlCol="false" tIns="0" lIns="0" bIns="0" rIns="0">
            <a:spAutoFit/>
          </a:bodyPr>
          <a:lstStyle/>
          <a:p>
            <a:pPr algn="ctr">
              <a:lnSpc>
                <a:spcPts val="23586"/>
              </a:lnSpc>
            </a:pPr>
            <a:r>
              <a:rPr lang="en-US" b="true" sz="22899" spc="1396">
                <a:solidFill>
                  <a:srgbClr val="000000"/>
                </a:solidFill>
                <a:latin typeface="Antonio Ultra-Bold"/>
                <a:ea typeface="Antonio Ultra-Bold"/>
                <a:cs typeface="Antonio Ultra-Bold"/>
                <a:sym typeface="Antonio Ultra-Bold"/>
              </a:rPr>
              <a:t>FUNDAMENTOS</a:t>
            </a:r>
          </a:p>
        </p:txBody>
      </p:sp>
      <p:sp>
        <p:nvSpPr>
          <p:cNvPr name="TextBox 3" id="3"/>
          <p:cNvSpPr txBox="true"/>
          <p:nvPr/>
        </p:nvSpPr>
        <p:spPr>
          <a:xfrm rot="0">
            <a:off x="15020665" y="7134308"/>
            <a:ext cx="2577395" cy="597864"/>
          </a:xfrm>
          <a:prstGeom prst="rect">
            <a:avLst/>
          </a:prstGeom>
        </p:spPr>
        <p:txBody>
          <a:bodyPr anchor="t" rtlCol="false" tIns="0" lIns="0" bIns="0" rIns="0">
            <a:spAutoFit/>
          </a:bodyPr>
          <a:lstStyle/>
          <a:p>
            <a:pPr algn="r" marL="0" indent="0" lvl="0">
              <a:lnSpc>
                <a:spcPts val="4846"/>
              </a:lnSpc>
              <a:spcBef>
                <a:spcPct val="0"/>
              </a:spcBef>
            </a:pPr>
            <a:r>
              <a:rPr lang="en-US" b="true" sz="3462" spc="1107">
                <a:solidFill>
                  <a:srgbClr val="000000"/>
                </a:solidFill>
                <a:latin typeface="Raleway Medium"/>
                <a:ea typeface="Raleway Medium"/>
                <a:cs typeface="Raleway Medium"/>
                <a:sym typeface="Raleway Medium"/>
              </a:rPr>
              <a:t>AD2026</a:t>
            </a:r>
          </a:p>
        </p:txBody>
      </p:sp>
      <p:sp>
        <p:nvSpPr>
          <p:cNvPr name="TextBox 4" id="4"/>
          <p:cNvSpPr txBox="true"/>
          <p:nvPr/>
        </p:nvSpPr>
        <p:spPr>
          <a:xfrm rot="0">
            <a:off x="8928454" y="7134308"/>
            <a:ext cx="5739024" cy="597864"/>
          </a:xfrm>
          <a:prstGeom prst="rect">
            <a:avLst/>
          </a:prstGeom>
        </p:spPr>
        <p:txBody>
          <a:bodyPr anchor="t" rtlCol="false" tIns="0" lIns="0" bIns="0" rIns="0">
            <a:spAutoFit/>
          </a:bodyPr>
          <a:lstStyle/>
          <a:p>
            <a:pPr algn="r" marL="0" indent="0" lvl="0">
              <a:lnSpc>
                <a:spcPts val="4846"/>
              </a:lnSpc>
              <a:spcBef>
                <a:spcPct val="0"/>
              </a:spcBef>
            </a:pPr>
            <a:r>
              <a:rPr lang="en-US" b="true" sz="3462" spc="1107">
                <a:solidFill>
                  <a:srgbClr val="000000"/>
                </a:solidFill>
                <a:latin typeface="Raleway Medium"/>
                <a:ea typeface="Raleway Medium"/>
                <a:cs typeface="Raleway Medium"/>
                <a:sym typeface="Raleway Medium"/>
              </a:rPr>
              <a:t>del diseño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4418" y="4103794"/>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TextBox 5" id="5"/>
          <p:cNvSpPr txBox="true"/>
          <p:nvPr/>
        </p:nvSpPr>
        <p:spPr>
          <a:xfrm rot="0">
            <a:off x="2225510" y="2227371"/>
            <a:ext cx="6513055" cy="1479163"/>
          </a:xfrm>
          <a:prstGeom prst="rect">
            <a:avLst/>
          </a:prstGeom>
        </p:spPr>
        <p:txBody>
          <a:bodyPr anchor="t" rtlCol="false" tIns="0" lIns="0" bIns="0" rIns="0">
            <a:spAutoFit/>
          </a:bodyPr>
          <a:lstStyle/>
          <a:p>
            <a:pPr algn="l" marL="0" indent="0" lvl="0">
              <a:lnSpc>
                <a:spcPts val="11330"/>
              </a:lnSpc>
              <a:spcBef>
                <a:spcPct val="0"/>
              </a:spcBef>
            </a:pPr>
            <a:r>
              <a:rPr lang="en-US" sz="10689">
                <a:solidFill>
                  <a:srgbClr val="000000"/>
                </a:solidFill>
                <a:latin typeface="Antonio"/>
                <a:ea typeface="Antonio"/>
                <a:cs typeface="Antonio"/>
                <a:sym typeface="Antonio"/>
              </a:rPr>
              <a:t>PROFESORES</a:t>
            </a:r>
          </a:p>
        </p:txBody>
      </p:sp>
      <p:grpSp>
        <p:nvGrpSpPr>
          <p:cNvPr name="Group 6" id="6"/>
          <p:cNvGrpSpPr/>
          <p:nvPr/>
        </p:nvGrpSpPr>
        <p:grpSpPr>
          <a:xfrm rot="0">
            <a:off x="8347665" y="4103794"/>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grpSp>
        <p:nvGrpSpPr>
          <p:cNvPr name="Group 9" id="9"/>
          <p:cNvGrpSpPr/>
          <p:nvPr/>
        </p:nvGrpSpPr>
        <p:grpSpPr>
          <a:xfrm rot="0">
            <a:off x="11590911" y="4103794"/>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TextBox 12" id="12"/>
          <p:cNvSpPr txBox="true"/>
          <p:nvPr/>
        </p:nvSpPr>
        <p:spPr>
          <a:xfrm rot="0">
            <a:off x="5496771" y="7309068"/>
            <a:ext cx="2301395" cy="358675"/>
          </a:xfrm>
          <a:prstGeom prst="rect">
            <a:avLst/>
          </a:prstGeom>
        </p:spPr>
        <p:txBody>
          <a:bodyPr anchor="t" rtlCol="false" tIns="0" lIns="0" bIns="0" rIns="0">
            <a:spAutoFit/>
          </a:bodyPr>
          <a:lstStyle/>
          <a:p>
            <a:pPr algn="ctr" marL="0" indent="0" lvl="0">
              <a:lnSpc>
                <a:spcPts val="2805"/>
              </a:lnSpc>
              <a:spcBef>
                <a:spcPct val="0"/>
              </a:spcBef>
            </a:pPr>
            <a:r>
              <a:rPr lang="en-US" sz="2003" spc="40">
                <a:solidFill>
                  <a:srgbClr val="000000"/>
                </a:solidFill>
                <a:latin typeface="Raleway"/>
                <a:ea typeface="Raleway"/>
                <a:cs typeface="Raleway"/>
                <a:sym typeface="Raleway"/>
              </a:rPr>
              <a:t>Claudia Kleeman</a:t>
            </a:r>
          </a:p>
        </p:txBody>
      </p:sp>
      <p:sp>
        <p:nvSpPr>
          <p:cNvPr name="TextBox 13" id="13"/>
          <p:cNvSpPr txBox="true"/>
          <p:nvPr/>
        </p:nvSpPr>
        <p:spPr>
          <a:xfrm rot="0">
            <a:off x="8740017" y="7309068"/>
            <a:ext cx="2301395" cy="711100"/>
          </a:xfrm>
          <a:prstGeom prst="rect">
            <a:avLst/>
          </a:prstGeom>
        </p:spPr>
        <p:txBody>
          <a:bodyPr anchor="t" rtlCol="false" tIns="0" lIns="0" bIns="0" rIns="0">
            <a:spAutoFit/>
          </a:bodyPr>
          <a:lstStyle/>
          <a:p>
            <a:pPr algn="ctr" marL="0" indent="0" lvl="0">
              <a:lnSpc>
                <a:spcPts val="2805"/>
              </a:lnSpc>
              <a:spcBef>
                <a:spcPct val="0"/>
              </a:spcBef>
            </a:pPr>
            <a:r>
              <a:rPr lang="en-US" sz="2003" spc="40">
                <a:solidFill>
                  <a:srgbClr val="000000"/>
                </a:solidFill>
                <a:latin typeface="Raleway"/>
                <a:ea typeface="Raleway"/>
                <a:cs typeface="Raleway"/>
                <a:sym typeface="Raleway"/>
              </a:rPr>
              <a:t>Esteban de la Monja</a:t>
            </a:r>
          </a:p>
        </p:txBody>
      </p:sp>
      <p:sp>
        <p:nvSpPr>
          <p:cNvPr name="TextBox 14" id="14"/>
          <p:cNvSpPr txBox="true"/>
          <p:nvPr/>
        </p:nvSpPr>
        <p:spPr>
          <a:xfrm rot="0">
            <a:off x="11983264" y="7309068"/>
            <a:ext cx="2301395" cy="358675"/>
          </a:xfrm>
          <a:prstGeom prst="rect">
            <a:avLst/>
          </a:prstGeom>
        </p:spPr>
        <p:txBody>
          <a:bodyPr anchor="t" rtlCol="false" tIns="0" lIns="0" bIns="0" rIns="0">
            <a:spAutoFit/>
          </a:bodyPr>
          <a:lstStyle/>
          <a:p>
            <a:pPr algn="ctr" marL="0" indent="0" lvl="0">
              <a:lnSpc>
                <a:spcPts val="2805"/>
              </a:lnSpc>
              <a:spcBef>
                <a:spcPct val="0"/>
              </a:spcBef>
            </a:pPr>
            <a:r>
              <a:rPr lang="en-US" sz="2003" spc="40">
                <a:solidFill>
                  <a:srgbClr val="000000"/>
                </a:solidFill>
                <a:latin typeface="Raleway"/>
                <a:ea typeface="Raleway"/>
                <a:cs typeface="Raleway"/>
                <a:sym typeface="Raleway"/>
              </a:rPr>
              <a:t>Patricia Figueroa</a:t>
            </a:r>
          </a:p>
        </p:txBody>
      </p:sp>
      <p:sp>
        <p:nvSpPr>
          <p:cNvPr name="Freeform 15" id="15" descr="image"/>
          <p:cNvSpPr/>
          <p:nvPr/>
        </p:nvSpPr>
        <p:spPr>
          <a:xfrm flipH="false" flipV="false" rot="0">
            <a:off x="12063285" y="4296541"/>
            <a:ext cx="2141352" cy="2700606"/>
          </a:xfrm>
          <a:custGeom>
            <a:avLst/>
            <a:gdLst/>
            <a:ahLst/>
            <a:cxnLst/>
            <a:rect r="r" b="b" t="t" l="l"/>
            <a:pathLst>
              <a:path h="2700606" w="2141352">
                <a:moveTo>
                  <a:pt x="0" y="0"/>
                </a:moveTo>
                <a:lnTo>
                  <a:pt x="2141352" y="0"/>
                </a:lnTo>
                <a:lnTo>
                  <a:pt x="2141352" y="2700606"/>
                </a:lnTo>
                <a:lnTo>
                  <a:pt x="0" y="2700606"/>
                </a:lnTo>
                <a:lnTo>
                  <a:pt x="0" y="0"/>
                </a:lnTo>
                <a:close/>
              </a:path>
            </a:pathLst>
          </a:custGeom>
          <a:blipFill>
            <a:blip r:embed="rId2"/>
            <a:stretch>
              <a:fillRect l="0" t="0" r="0" b="0"/>
            </a:stretch>
          </a:blipFill>
        </p:spPr>
      </p:sp>
      <p:sp>
        <p:nvSpPr>
          <p:cNvPr name="Freeform 16" id="16" descr="image"/>
          <p:cNvSpPr/>
          <p:nvPr/>
        </p:nvSpPr>
        <p:spPr>
          <a:xfrm flipH="false" flipV="false" rot="0">
            <a:off x="8540412" y="4296541"/>
            <a:ext cx="2700606" cy="2700606"/>
          </a:xfrm>
          <a:custGeom>
            <a:avLst/>
            <a:gdLst/>
            <a:ahLst/>
            <a:cxnLst/>
            <a:rect r="r" b="b" t="t" l="l"/>
            <a:pathLst>
              <a:path h="2700606" w="2700606">
                <a:moveTo>
                  <a:pt x="0" y="0"/>
                </a:moveTo>
                <a:lnTo>
                  <a:pt x="2700606" y="0"/>
                </a:lnTo>
                <a:lnTo>
                  <a:pt x="2700606" y="2700606"/>
                </a:lnTo>
                <a:lnTo>
                  <a:pt x="0" y="2700606"/>
                </a:lnTo>
                <a:lnTo>
                  <a:pt x="0" y="0"/>
                </a:lnTo>
                <a:close/>
              </a:path>
            </a:pathLst>
          </a:custGeom>
          <a:blipFill>
            <a:blip r:embed="rId3"/>
            <a:stretch>
              <a:fillRect l="0" t="0" r="0" b="0"/>
            </a:stretch>
          </a:blipFill>
        </p:spPr>
      </p:sp>
      <p:sp>
        <p:nvSpPr>
          <p:cNvPr name="Freeform 17" id="17" descr="image"/>
          <p:cNvSpPr/>
          <p:nvPr/>
        </p:nvSpPr>
        <p:spPr>
          <a:xfrm flipH="false" flipV="false" rot="0">
            <a:off x="5297165" y="4296541"/>
            <a:ext cx="2700606" cy="2700606"/>
          </a:xfrm>
          <a:custGeom>
            <a:avLst/>
            <a:gdLst/>
            <a:ahLst/>
            <a:cxnLst/>
            <a:rect r="r" b="b" t="t" l="l"/>
            <a:pathLst>
              <a:path h="2700606" w="2700606">
                <a:moveTo>
                  <a:pt x="0" y="0"/>
                </a:moveTo>
                <a:lnTo>
                  <a:pt x="2700606" y="0"/>
                </a:lnTo>
                <a:lnTo>
                  <a:pt x="2700606" y="2700606"/>
                </a:lnTo>
                <a:lnTo>
                  <a:pt x="0" y="2700606"/>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986994" y="4277597"/>
            <a:ext cx="1995615" cy="2456141"/>
            <a:chOff x="0" y="0"/>
            <a:chExt cx="660400" cy="812800"/>
          </a:xfrm>
        </p:grpSpPr>
        <p:sp>
          <p:nvSpPr>
            <p:cNvPr name="Freeform 3" id="3"/>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4" id="4"/>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5" id="5"/>
          <p:cNvGrpSpPr/>
          <p:nvPr/>
        </p:nvGrpSpPr>
        <p:grpSpPr>
          <a:xfrm rot="0">
            <a:off x="10064686" y="4277597"/>
            <a:ext cx="1995615" cy="2456141"/>
            <a:chOff x="0" y="0"/>
            <a:chExt cx="660400" cy="812800"/>
          </a:xfrm>
        </p:grpSpPr>
        <p:sp>
          <p:nvSpPr>
            <p:cNvPr name="Freeform 6" id="6"/>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1FA9"/>
            </a:solidFill>
          </p:spPr>
        </p:sp>
        <p:sp>
          <p:nvSpPr>
            <p:cNvPr name="TextBox 7" id="7"/>
            <p:cNvSpPr txBox="true"/>
            <p:nvPr/>
          </p:nvSpPr>
          <p:spPr>
            <a:xfrm>
              <a:off x="0" y="88900"/>
              <a:ext cx="660400" cy="723900"/>
            </a:xfrm>
            <a:prstGeom prst="rect">
              <a:avLst/>
            </a:prstGeom>
          </p:spPr>
          <p:txBody>
            <a:bodyPr anchor="ctr" rtlCol="false" tIns="50800" lIns="50800" bIns="50800" rIns="50800"/>
            <a:lstStyle/>
            <a:p>
              <a:pPr algn="ctr">
                <a:lnSpc>
                  <a:spcPts val="2245"/>
                </a:lnSpc>
              </a:pPr>
            </a:p>
          </p:txBody>
        </p:sp>
      </p:grpSp>
      <p:grpSp>
        <p:nvGrpSpPr>
          <p:cNvPr name="Group 8" id="8"/>
          <p:cNvGrpSpPr/>
          <p:nvPr/>
        </p:nvGrpSpPr>
        <p:grpSpPr>
          <a:xfrm rot="0">
            <a:off x="12146025" y="4277597"/>
            <a:ext cx="1995615" cy="2456141"/>
            <a:chOff x="0" y="0"/>
            <a:chExt cx="660400" cy="812800"/>
          </a:xfrm>
        </p:grpSpPr>
        <p:sp>
          <p:nvSpPr>
            <p:cNvPr name="Freeform 9" id="9"/>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10" id="10"/>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11" id="11"/>
          <p:cNvGrpSpPr/>
          <p:nvPr/>
        </p:nvGrpSpPr>
        <p:grpSpPr>
          <a:xfrm rot="0">
            <a:off x="14227365" y="4277597"/>
            <a:ext cx="1995615" cy="2456141"/>
            <a:chOff x="0" y="0"/>
            <a:chExt cx="660400" cy="812800"/>
          </a:xfrm>
        </p:grpSpPr>
        <p:sp>
          <p:nvSpPr>
            <p:cNvPr name="Freeform 12" id="12"/>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1FA9"/>
            </a:solidFill>
          </p:spPr>
        </p:sp>
        <p:sp>
          <p:nvSpPr>
            <p:cNvPr name="TextBox 13" id="13"/>
            <p:cNvSpPr txBox="true"/>
            <p:nvPr/>
          </p:nvSpPr>
          <p:spPr>
            <a:xfrm>
              <a:off x="0" y="88900"/>
              <a:ext cx="660400" cy="723900"/>
            </a:xfrm>
            <a:prstGeom prst="rect">
              <a:avLst/>
            </a:prstGeom>
          </p:spPr>
          <p:txBody>
            <a:bodyPr anchor="ctr" rtlCol="false" tIns="50800" lIns="50800" bIns="50800" rIns="50800"/>
            <a:lstStyle/>
            <a:p>
              <a:pPr algn="ctr">
                <a:lnSpc>
                  <a:spcPts val="2245"/>
                </a:lnSpc>
              </a:pPr>
            </a:p>
          </p:txBody>
        </p:sp>
      </p:grpSp>
      <p:grpSp>
        <p:nvGrpSpPr>
          <p:cNvPr name="Group 14" id="14"/>
          <p:cNvGrpSpPr/>
          <p:nvPr/>
        </p:nvGrpSpPr>
        <p:grpSpPr>
          <a:xfrm rot="0">
            <a:off x="16294681" y="4334747"/>
            <a:ext cx="1995615" cy="2456141"/>
            <a:chOff x="0" y="0"/>
            <a:chExt cx="660400" cy="812800"/>
          </a:xfrm>
        </p:grpSpPr>
        <p:sp>
          <p:nvSpPr>
            <p:cNvPr name="Freeform 15" id="15"/>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16" id="16"/>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17" id="17"/>
          <p:cNvGrpSpPr/>
          <p:nvPr/>
        </p:nvGrpSpPr>
        <p:grpSpPr>
          <a:xfrm rot="0">
            <a:off x="7986994" y="7415853"/>
            <a:ext cx="10303302" cy="1543050"/>
            <a:chOff x="0" y="0"/>
            <a:chExt cx="2713627" cy="406400"/>
          </a:xfrm>
        </p:grpSpPr>
        <p:sp>
          <p:nvSpPr>
            <p:cNvPr name="Freeform 18" id="18"/>
            <p:cNvSpPr/>
            <p:nvPr/>
          </p:nvSpPr>
          <p:spPr>
            <a:xfrm flipH="false" flipV="false" rot="0">
              <a:off x="0" y="0"/>
              <a:ext cx="2713627" cy="406400"/>
            </a:xfrm>
            <a:custGeom>
              <a:avLst/>
              <a:gdLst/>
              <a:ahLst/>
              <a:cxnLst/>
              <a:rect r="r" b="b" t="t" l="l"/>
              <a:pathLst>
                <a:path h="406400" w="2713627">
                  <a:moveTo>
                    <a:pt x="2510427" y="0"/>
                  </a:moveTo>
                  <a:cubicBezTo>
                    <a:pt x="2622651" y="0"/>
                    <a:pt x="2713627" y="90976"/>
                    <a:pt x="2713627" y="203200"/>
                  </a:cubicBezTo>
                  <a:cubicBezTo>
                    <a:pt x="2713627" y="315424"/>
                    <a:pt x="2622651" y="406400"/>
                    <a:pt x="2510427" y="406400"/>
                  </a:cubicBezTo>
                  <a:lnTo>
                    <a:pt x="203200" y="406400"/>
                  </a:lnTo>
                  <a:cubicBezTo>
                    <a:pt x="90976" y="406400"/>
                    <a:pt x="0" y="315424"/>
                    <a:pt x="0" y="203200"/>
                  </a:cubicBezTo>
                  <a:cubicBezTo>
                    <a:pt x="0" y="90976"/>
                    <a:pt x="90976" y="0"/>
                    <a:pt x="203200" y="0"/>
                  </a:cubicBezTo>
                  <a:close/>
                </a:path>
              </a:pathLst>
            </a:custGeom>
            <a:solidFill>
              <a:srgbClr val="1F48FF"/>
            </a:solidFill>
          </p:spPr>
        </p:sp>
        <p:sp>
          <p:nvSpPr>
            <p:cNvPr name="TextBox 19" id="19"/>
            <p:cNvSpPr txBox="true"/>
            <p:nvPr/>
          </p:nvSpPr>
          <p:spPr>
            <a:xfrm>
              <a:off x="0" y="-38100"/>
              <a:ext cx="2713627" cy="444500"/>
            </a:xfrm>
            <a:prstGeom prst="rect">
              <a:avLst/>
            </a:prstGeom>
          </p:spPr>
          <p:txBody>
            <a:bodyPr anchor="ctr" rtlCol="false" tIns="50800" lIns="50800" bIns="50800" rIns="50800"/>
            <a:lstStyle/>
            <a:p>
              <a:pPr algn="ctr">
                <a:lnSpc>
                  <a:spcPts val="2245"/>
                </a:lnSpc>
              </a:pPr>
            </a:p>
          </p:txBody>
        </p:sp>
      </p:grpSp>
      <p:sp>
        <p:nvSpPr>
          <p:cNvPr name="TextBox 20" id="20"/>
          <p:cNvSpPr txBox="true"/>
          <p:nvPr/>
        </p:nvSpPr>
        <p:spPr>
          <a:xfrm rot="0">
            <a:off x="11484944" y="7965383"/>
            <a:ext cx="3420818" cy="415414"/>
          </a:xfrm>
          <a:prstGeom prst="rect">
            <a:avLst/>
          </a:prstGeom>
        </p:spPr>
        <p:txBody>
          <a:bodyPr anchor="t" rtlCol="false" tIns="0" lIns="0" bIns="0" rIns="0">
            <a:spAutoFit/>
          </a:bodyPr>
          <a:lstStyle/>
          <a:p>
            <a:pPr algn="ctr">
              <a:lnSpc>
                <a:spcPts val="3302"/>
              </a:lnSpc>
            </a:pPr>
            <a:r>
              <a:rPr lang="en-US" sz="2540" b="true">
                <a:solidFill>
                  <a:srgbClr val="000000"/>
                </a:solidFill>
                <a:latin typeface="Antonio Bold"/>
                <a:ea typeface="Antonio Bold"/>
                <a:cs typeface="Antonio Bold"/>
                <a:sym typeface="Antonio Bold"/>
              </a:rPr>
              <a:t>Reto: Arte Instalación</a:t>
            </a:r>
          </a:p>
        </p:txBody>
      </p:sp>
      <p:sp>
        <p:nvSpPr>
          <p:cNvPr name="TextBox 21" id="21"/>
          <p:cNvSpPr txBox="true"/>
          <p:nvPr/>
        </p:nvSpPr>
        <p:spPr>
          <a:xfrm rot="0">
            <a:off x="8160024" y="4220447"/>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S1</a:t>
            </a:r>
          </a:p>
        </p:txBody>
      </p:sp>
      <p:sp>
        <p:nvSpPr>
          <p:cNvPr name="TextBox 22" id="22"/>
          <p:cNvSpPr txBox="true"/>
          <p:nvPr/>
        </p:nvSpPr>
        <p:spPr>
          <a:xfrm rot="0">
            <a:off x="8220097" y="5062529"/>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bidimensional</a:t>
            </a:r>
          </a:p>
        </p:txBody>
      </p:sp>
      <p:sp>
        <p:nvSpPr>
          <p:cNvPr name="TextBox 23" id="23"/>
          <p:cNvSpPr txBox="true"/>
          <p:nvPr/>
        </p:nvSpPr>
        <p:spPr>
          <a:xfrm rot="0">
            <a:off x="8495713" y="5739439"/>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papel</a:t>
            </a:r>
          </a:p>
        </p:txBody>
      </p:sp>
      <p:sp>
        <p:nvSpPr>
          <p:cNvPr name="TextBox 24" id="24"/>
          <p:cNvSpPr txBox="true"/>
          <p:nvPr/>
        </p:nvSpPr>
        <p:spPr>
          <a:xfrm rot="0">
            <a:off x="11659050" y="6375474"/>
            <a:ext cx="353625"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S2</a:t>
            </a:r>
          </a:p>
        </p:txBody>
      </p:sp>
      <p:sp>
        <p:nvSpPr>
          <p:cNvPr name="TextBox 25" id="25"/>
          <p:cNvSpPr txBox="true"/>
          <p:nvPr/>
        </p:nvSpPr>
        <p:spPr>
          <a:xfrm rot="0">
            <a:off x="12323331" y="4220447"/>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S3</a:t>
            </a:r>
          </a:p>
        </p:txBody>
      </p:sp>
      <p:sp>
        <p:nvSpPr>
          <p:cNvPr name="TextBox 26" id="26"/>
          <p:cNvSpPr txBox="true"/>
          <p:nvPr/>
        </p:nvSpPr>
        <p:spPr>
          <a:xfrm rot="0">
            <a:off x="15821730" y="6375474"/>
            <a:ext cx="353625"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S4</a:t>
            </a:r>
          </a:p>
        </p:txBody>
      </p:sp>
      <p:sp>
        <p:nvSpPr>
          <p:cNvPr name="TextBox 27" id="27"/>
          <p:cNvSpPr txBox="true"/>
          <p:nvPr/>
        </p:nvSpPr>
        <p:spPr>
          <a:xfrm rot="0">
            <a:off x="16471987" y="4277597"/>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S5</a:t>
            </a:r>
          </a:p>
        </p:txBody>
      </p:sp>
      <p:sp>
        <p:nvSpPr>
          <p:cNvPr name="TextBox 28" id="28"/>
          <p:cNvSpPr txBox="true"/>
          <p:nvPr/>
        </p:nvSpPr>
        <p:spPr>
          <a:xfrm rot="0">
            <a:off x="10291912" y="5016577"/>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bidimensional</a:t>
            </a:r>
          </a:p>
        </p:txBody>
      </p:sp>
      <p:sp>
        <p:nvSpPr>
          <p:cNvPr name="TextBox 29" id="29"/>
          <p:cNvSpPr txBox="true"/>
          <p:nvPr/>
        </p:nvSpPr>
        <p:spPr>
          <a:xfrm rot="0">
            <a:off x="10567528" y="5693487"/>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batería</a:t>
            </a:r>
          </a:p>
        </p:txBody>
      </p:sp>
      <p:sp>
        <p:nvSpPr>
          <p:cNvPr name="TextBox 30" id="30"/>
          <p:cNvSpPr txBox="true"/>
          <p:nvPr/>
        </p:nvSpPr>
        <p:spPr>
          <a:xfrm rot="0">
            <a:off x="12374625" y="5016577"/>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tridimensional</a:t>
            </a:r>
          </a:p>
        </p:txBody>
      </p:sp>
      <p:sp>
        <p:nvSpPr>
          <p:cNvPr name="TextBox 31" id="31"/>
          <p:cNvSpPr txBox="true"/>
          <p:nvPr/>
        </p:nvSpPr>
        <p:spPr>
          <a:xfrm rot="0">
            <a:off x="12650241" y="5693487"/>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PLANO</a:t>
            </a:r>
          </a:p>
        </p:txBody>
      </p:sp>
      <p:sp>
        <p:nvSpPr>
          <p:cNvPr name="TextBox 32" id="32"/>
          <p:cNvSpPr txBox="true"/>
          <p:nvPr/>
        </p:nvSpPr>
        <p:spPr>
          <a:xfrm rot="0">
            <a:off x="12659020" y="5857181"/>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estireno</a:t>
            </a:r>
          </a:p>
        </p:txBody>
      </p:sp>
      <p:sp>
        <p:nvSpPr>
          <p:cNvPr name="TextBox 33" id="33"/>
          <p:cNvSpPr txBox="true"/>
          <p:nvPr/>
        </p:nvSpPr>
        <p:spPr>
          <a:xfrm rot="0">
            <a:off x="14447813" y="5016577"/>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tridimensional</a:t>
            </a:r>
          </a:p>
        </p:txBody>
      </p:sp>
      <p:sp>
        <p:nvSpPr>
          <p:cNvPr name="TextBox 34" id="34"/>
          <p:cNvSpPr txBox="true"/>
          <p:nvPr/>
        </p:nvSpPr>
        <p:spPr>
          <a:xfrm rot="0">
            <a:off x="14723429" y="5693487"/>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VOLUMEN</a:t>
            </a:r>
          </a:p>
        </p:txBody>
      </p:sp>
      <p:sp>
        <p:nvSpPr>
          <p:cNvPr name="TextBox 35" id="35"/>
          <p:cNvSpPr txBox="true"/>
          <p:nvPr/>
        </p:nvSpPr>
        <p:spPr>
          <a:xfrm rot="0">
            <a:off x="14732208" y="5857181"/>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madera </a:t>
            </a:r>
          </a:p>
        </p:txBody>
      </p:sp>
      <p:sp>
        <p:nvSpPr>
          <p:cNvPr name="TextBox 36" id="36"/>
          <p:cNvSpPr txBox="true"/>
          <p:nvPr/>
        </p:nvSpPr>
        <p:spPr>
          <a:xfrm rot="0">
            <a:off x="14732208" y="6048768"/>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balsa</a:t>
            </a:r>
          </a:p>
        </p:txBody>
      </p:sp>
      <p:sp>
        <p:nvSpPr>
          <p:cNvPr name="TextBox 37" id="37"/>
          <p:cNvSpPr txBox="true"/>
          <p:nvPr/>
        </p:nvSpPr>
        <p:spPr>
          <a:xfrm rot="0">
            <a:off x="16462462" y="4992411"/>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integrador</a:t>
            </a:r>
          </a:p>
        </p:txBody>
      </p:sp>
      <p:sp>
        <p:nvSpPr>
          <p:cNvPr name="TextBox 38" id="38"/>
          <p:cNvSpPr txBox="true"/>
          <p:nvPr/>
        </p:nvSpPr>
        <p:spPr>
          <a:xfrm rot="0">
            <a:off x="16944747" y="8591113"/>
            <a:ext cx="880017"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S7-S11</a:t>
            </a:r>
          </a:p>
        </p:txBody>
      </p:sp>
      <p:sp>
        <p:nvSpPr>
          <p:cNvPr name="TextBox 39" id="39"/>
          <p:cNvSpPr txBox="true"/>
          <p:nvPr/>
        </p:nvSpPr>
        <p:spPr>
          <a:xfrm rot="0">
            <a:off x="0" y="-177800"/>
            <a:ext cx="16270794" cy="2727326"/>
          </a:xfrm>
          <a:prstGeom prst="rect">
            <a:avLst/>
          </a:prstGeom>
        </p:spPr>
        <p:txBody>
          <a:bodyPr anchor="t" rtlCol="false" tIns="0" lIns="0" bIns="0" rIns="0">
            <a:spAutoFit/>
          </a:bodyPr>
          <a:lstStyle/>
          <a:p>
            <a:pPr algn="just"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METODOLOGÍA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25510" y="2227371"/>
            <a:ext cx="9548848" cy="1485458"/>
          </a:xfrm>
          <a:prstGeom prst="rect">
            <a:avLst/>
          </a:prstGeom>
        </p:spPr>
        <p:txBody>
          <a:bodyPr anchor="t" rtlCol="false" tIns="0" lIns="0" bIns="0" rIns="0">
            <a:spAutoFit/>
          </a:bodyPr>
          <a:lstStyle/>
          <a:p>
            <a:pPr algn="just" marL="0" indent="0" lvl="0">
              <a:lnSpc>
                <a:spcPts val="11330"/>
              </a:lnSpc>
              <a:spcBef>
                <a:spcPct val="0"/>
              </a:spcBef>
            </a:pPr>
            <a:r>
              <a:rPr lang="en-US" sz="10689">
                <a:solidFill>
                  <a:srgbClr val="000000"/>
                </a:solidFill>
                <a:latin typeface="Antonio"/>
                <a:ea typeface="Antonio"/>
                <a:cs typeface="Antonio"/>
                <a:sym typeface="Antonio"/>
              </a:rPr>
              <a:t>PROCESO CREATIVO</a:t>
            </a:r>
          </a:p>
        </p:txBody>
      </p:sp>
      <p:grpSp>
        <p:nvGrpSpPr>
          <p:cNvPr name="Group 3" id="3"/>
          <p:cNvGrpSpPr/>
          <p:nvPr/>
        </p:nvGrpSpPr>
        <p:grpSpPr>
          <a:xfrm rot="0">
            <a:off x="2035325" y="4643120"/>
            <a:ext cx="14217350" cy="3419919"/>
            <a:chOff x="0" y="0"/>
            <a:chExt cx="18956466" cy="4559893"/>
          </a:xfrm>
        </p:grpSpPr>
        <p:sp>
          <p:nvSpPr>
            <p:cNvPr name="Freeform 4" id="4"/>
            <p:cNvSpPr/>
            <p:nvPr/>
          </p:nvSpPr>
          <p:spPr>
            <a:xfrm flipH="false" flipV="false" rot="0">
              <a:off x="719520" y="1222385"/>
              <a:ext cx="1691537" cy="1691537"/>
            </a:xfrm>
            <a:custGeom>
              <a:avLst/>
              <a:gdLst/>
              <a:ahLst/>
              <a:cxnLst/>
              <a:rect r="r" b="b" t="t" l="l"/>
              <a:pathLst>
                <a:path h="1691537" w="1691537">
                  <a:moveTo>
                    <a:pt x="0" y="0"/>
                  </a:moveTo>
                  <a:lnTo>
                    <a:pt x="1691536" y="0"/>
                  </a:lnTo>
                  <a:lnTo>
                    <a:pt x="1691536" y="1691537"/>
                  </a:lnTo>
                  <a:lnTo>
                    <a:pt x="0" y="1691537"/>
                  </a:lnTo>
                  <a:lnTo>
                    <a:pt x="0" y="0"/>
                  </a:lnTo>
                  <a:close/>
                </a:path>
              </a:pathLst>
            </a:custGeom>
            <a:blipFill>
              <a:blip r:embed="rId2"/>
              <a:stretch>
                <a:fillRect l="0" t="0" r="0" b="0"/>
              </a:stretch>
            </a:blipFill>
          </p:spPr>
        </p:sp>
        <p:grpSp>
          <p:nvGrpSpPr>
            <p:cNvPr name="Group 5" id="5"/>
            <p:cNvGrpSpPr/>
            <p:nvPr/>
          </p:nvGrpSpPr>
          <p:grpSpPr>
            <a:xfrm rot="0">
              <a:off x="189500" y="692365"/>
              <a:ext cx="2751577" cy="27515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71450" cap="sq">
                <a:solidFill>
                  <a:srgbClr val="FF1FA9"/>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Freeform 8" id="8"/>
            <p:cNvSpPr/>
            <p:nvPr/>
          </p:nvSpPr>
          <p:spPr>
            <a:xfrm flipH="false" flipV="false" rot="0">
              <a:off x="4682070" y="1222385"/>
              <a:ext cx="1681050" cy="1681050"/>
            </a:xfrm>
            <a:custGeom>
              <a:avLst/>
              <a:gdLst/>
              <a:ahLst/>
              <a:cxnLst/>
              <a:rect r="r" b="b" t="t" l="l"/>
              <a:pathLst>
                <a:path h="1681050" w="1681050">
                  <a:moveTo>
                    <a:pt x="0" y="0"/>
                  </a:moveTo>
                  <a:lnTo>
                    <a:pt x="1681050" y="0"/>
                  </a:lnTo>
                  <a:lnTo>
                    <a:pt x="1681050" y="1681050"/>
                  </a:lnTo>
                  <a:lnTo>
                    <a:pt x="0" y="1681050"/>
                  </a:lnTo>
                  <a:lnTo>
                    <a:pt x="0" y="0"/>
                  </a:lnTo>
                  <a:close/>
                </a:path>
              </a:pathLst>
            </a:custGeom>
            <a:blipFill>
              <a:blip r:embed="rId3"/>
              <a:stretch>
                <a:fillRect l="0" t="0" r="0" b="0"/>
              </a:stretch>
            </a:blipFill>
          </p:spPr>
        </p:sp>
        <p:grpSp>
          <p:nvGrpSpPr>
            <p:cNvPr name="Group 9" id="9"/>
            <p:cNvGrpSpPr/>
            <p:nvPr/>
          </p:nvGrpSpPr>
          <p:grpSpPr>
            <a:xfrm rot="0">
              <a:off x="4146807" y="692365"/>
              <a:ext cx="2751577" cy="27515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71450" cap="sq">
                <a:solidFill>
                  <a:srgbClr val="1F48F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Freeform 12" id="12"/>
            <p:cNvSpPr/>
            <p:nvPr/>
          </p:nvSpPr>
          <p:spPr>
            <a:xfrm flipH="false" flipV="false" rot="0">
              <a:off x="8695113" y="1397813"/>
              <a:ext cx="1647318" cy="1554209"/>
            </a:xfrm>
            <a:custGeom>
              <a:avLst/>
              <a:gdLst/>
              <a:ahLst/>
              <a:cxnLst/>
              <a:rect r="r" b="b" t="t" l="l"/>
              <a:pathLst>
                <a:path h="1554209" w="1647318">
                  <a:moveTo>
                    <a:pt x="0" y="0"/>
                  </a:moveTo>
                  <a:lnTo>
                    <a:pt x="1647318" y="0"/>
                  </a:lnTo>
                  <a:lnTo>
                    <a:pt x="1647318" y="1554209"/>
                  </a:lnTo>
                  <a:lnTo>
                    <a:pt x="0" y="1554209"/>
                  </a:lnTo>
                  <a:lnTo>
                    <a:pt x="0" y="0"/>
                  </a:lnTo>
                  <a:close/>
                </a:path>
              </a:pathLst>
            </a:custGeom>
            <a:blipFill>
              <a:blip r:embed="rId4"/>
              <a:stretch>
                <a:fillRect l="0" t="0" r="0" b="0"/>
              </a:stretch>
            </a:blipFill>
          </p:spPr>
        </p:sp>
        <p:grpSp>
          <p:nvGrpSpPr>
            <p:cNvPr name="Group 13" id="13"/>
            <p:cNvGrpSpPr/>
            <p:nvPr/>
          </p:nvGrpSpPr>
          <p:grpSpPr>
            <a:xfrm rot="0">
              <a:off x="8104884" y="692365"/>
              <a:ext cx="2751577" cy="27515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71450" cap="sq">
                <a:solidFill>
                  <a:srgbClr val="FF1FA9"/>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grpSp>
          <p:nvGrpSpPr>
            <p:cNvPr name="Group 16" id="16"/>
            <p:cNvGrpSpPr/>
            <p:nvPr/>
          </p:nvGrpSpPr>
          <p:grpSpPr>
            <a:xfrm rot="0">
              <a:off x="12062960" y="692365"/>
              <a:ext cx="2751577" cy="27515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71450" cap="sq">
                <a:solidFill>
                  <a:srgbClr val="1F48FF"/>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Freeform 19" id="19"/>
            <p:cNvSpPr/>
            <p:nvPr/>
          </p:nvSpPr>
          <p:spPr>
            <a:xfrm flipH="false" flipV="false" rot="0">
              <a:off x="12737439" y="1316250"/>
              <a:ext cx="1402620" cy="1493320"/>
            </a:xfrm>
            <a:custGeom>
              <a:avLst/>
              <a:gdLst/>
              <a:ahLst/>
              <a:cxnLst/>
              <a:rect r="r" b="b" t="t" l="l"/>
              <a:pathLst>
                <a:path h="1493320" w="1402620">
                  <a:moveTo>
                    <a:pt x="0" y="0"/>
                  </a:moveTo>
                  <a:lnTo>
                    <a:pt x="1402620" y="0"/>
                  </a:lnTo>
                  <a:lnTo>
                    <a:pt x="1402620" y="1493321"/>
                  </a:lnTo>
                  <a:lnTo>
                    <a:pt x="0" y="1493321"/>
                  </a:lnTo>
                  <a:lnTo>
                    <a:pt x="0" y="0"/>
                  </a:lnTo>
                  <a:close/>
                </a:path>
              </a:pathLst>
            </a:custGeom>
            <a:blipFill>
              <a:blip r:embed="rId5"/>
              <a:stretch>
                <a:fillRect l="0" t="0" r="0" b="0"/>
              </a:stretch>
            </a:blipFill>
          </p:spPr>
        </p:sp>
        <p:grpSp>
          <p:nvGrpSpPr>
            <p:cNvPr name="Group 20" id="20"/>
            <p:cNvGrpSpPr/>
            <p:nvPr/>
          </p:nvGrpSpPr>
          <p:grpSpPr>
            <a:xfrm rot="0">
              <a:off x="16021037" y="687122"/>
              <a:ext cx="2751577" cy="275157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71450" cap="sq">
                <a:solidFill>
                  <a:srgbClr val="FF1FA9"/>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245"/>
                  </a:lnSpc>
                </a:pPr>
              </a:p>
            </p:txBody>
          </p:sp>
        </p:grpSp>
        <p:sp>
          <p:nvSpPr>
            <p:cNvPr name="Freeform 23" id="23"/>
            <p:cNvSpPr/>
            <p:nvPr/>
          </p:nvSpPr>
          <p:spPr>
            <a:xfrm flipH="false" flipV="false" rot="0">
              <a:off x="16778717" y="1431109"/>
              <a:ext cx="1224922" cy="1263604"/>
            </a:xfrm>
            <a:custGeom>
              <a:avLst/>
              <a:gdLst/>
              <a:ahLst/>
              <a:cxnLst/>
              <a:rect r="r" b="b" t="t" l="l"/>
              <a:pathLst>
                <a:path h="1263604" w="1224922">
                  <a:moveTo>
                    <a:pt x="0" y="0"/>
                  </a:moveTo>
                  <a:lnTo>
                    <a:pt x="1224922" y="0"/>
                  </a:lnTo>
                  <a:lnTo>
                    <a:pt x="1224922" y="1263603"/>
                  </a:lnTo>
                  <a:lnTo>
                    <a:pt x="0" y="1263603"/>
                  </a:lnTo>
                  <a:lnTo>
                    <a:pt x="0" y="0"/>
                  </a:lnTo>
                  <a:close/>
                </a:path>
              </a:pathLst>
            </a:custGeom>
            <a:blipFill>
              <a:blip r:embed="rId6"/>
              <a:stretch>
                <a:fillRect l="0" t="0" r="0" b="0"/>
              </a:stretch>
            </a:blipFill>
          </p:spPr>
        </p:sp>
        <p:sp>
          <p:nvSpPr>
            <p:cNvPr name="TextBox 24" id="24"/>
            <p:cNvSpPr txBox="true"/>
            <p:nvPr/>
          </p:nvSpPr>
          <p:spPr>
            <a:xfrm rot="0">
              <a:off x="0" y="3612896"/>
              <a:ext cx="3130576" cy="946997"/>
            </a:xfrm>
            <a:prstGeom prst="rect">
              <a:avLst/>
            </a:prstGeom>
          </p:spPr>
          <p:txBody>
            <a:bodyPr anchor="t" rtlCol="false" tIns="0" lIns="0" bIns="0" rIns="0">
              <a:spAutoFit/>
            </a:bodyPr>
            <a:lstStyle/>
            <a:p>
              <a:pPr algn="ctr">
                <a:lnSpc>
                  <a:spcPts val="2859"/>
                </a:lnSpc>
              </a:pPr>
              <a:r>
                <a:rPr lang="en-US" sz="2199" b="true">
                  <a:solidFill>
                    <a:srgbClr val="000000"/>
                  </a:solidFill>
                  <a:latin typeface="Antonio Bold"/>
                  <a:ea typeface="Antonio Bold"/>
                  <a:cs typeface="Antonio Bold"/>
                  <a:sym typeface="Antonio Bold"/>
                </a:rPr>
                <a:t>experimentación &amp;</a:t>
              </a:r>
            </a:p>
            <a:p>
              <a:pPr algn="ctr" marL="0" indent="0" lvl="0">
                <a:lnSpc>
                  <a:spcPts val="2859"/>
                </a:lnSpc>
                <a:spcBef>
                  <a:spcPct val="0"/>
                </a:spcBef>
              </a:pPr>
              <a:r>
                <a:rPr lang="en-US" b="true" sz="2199">
                  <a:solidFill>
                    <a:srgbClr val="000000"/>
                  </a:solidFill>
                  <a:latin typeface="Antonio Bold"/>
                  <a:ea typeface="Antonio Bold"/>
                  <a:cs typeface="Antonio Bold"/>
                  <a:sym typeface="Antonio Bold"/>
                </a:rPr>
                <a:t>análisis</a:t>
              </a:r>
            </a:p>
          </p:txBody>
        </p:sp>
        <p:sp>
          <p:nvSpPr>
            <p:cNvPr name="TextBox 25" id="25"/>
            <p:cNvSpPr txBox="true"/>
            <p:nvPr/>
          </p:nvSpPr>
          <p:spPr>
            <a:xfrm rot="0">
              <a:off x="7915384" y="3612896"/>
              <a:ext cx="3130576" cy="464397"/>
            </a:xfrm>
            <a:prstGeom prst="rect">
              <a:avLst/>
            </a:prstGeom>
          </p:spPr>
          <p:txBody>
            <a:bodyPr anchor="t" rtlCol="false" tIns="0" lIns="0" bIns="0" rIns="0">
              <a:spAutoFit/>
            </a:bodyPr>
            <a:lstStyle/>
            <a:p>
              <a:pPr algn="ctr" marL="0" indent="0" lvl="0">
                <a:lnSpc>
                  <a:spcPts val="2859"/>
                </a:lnSpc>
                <a:spcBef>
                  <a:spcPct val="0"/>
                </a:spcBef>
              </a:pPr>
              <a:r>
                <a:rPr lang="en-US" b="true" sz="2199">
                  <a:solidFill>
                    <a:srgbClr val="000000"/>
                  </a:solidFill>
                  <a:latin typeface="Antonio Bold"/>
                  <a:ea typeface="Antonio Bold"/>
                  <a:cs typeface="Antonio Bold"/>
                  <a:sym typeface="Antonio Bold"/>
                </a:rPr>
                <a:t>síntesis</a:t>
              </a:r>
            </a:p>
          </p:txBody>
        </p:sp>
        <p:sp>
          <p:nvSpPr>
            <p:cNvPr name="TextBox 26" id="26"/>
            <p:cNvSpPr txBox="true"/>
            <p:nvPr/>
          </p:nvSpPr>
          <p:spPr>
            <a:xfrm rot="0">
              <a:off x="15825890" y="3612896"/>
              <a:ext cx="3130576" cy="464397"/>
            </a:xfrm>
            <a:prstGeom prst="rect">
              <a:avLst/>
            </a:prstGeom>
          </p:spPr>
          <p:txBody>
            <a:bodyPr anchor="t" rtlCol="false" tIns="0" lIns="0" bIns="0" rIns="0">
              <a:spAutoFit/>
            </a:bodyPr>
            <a:lstStyle/>
            <a:p>
              <a:pPr algn="ctr" marL="0" indent="0" lvl="0">
                <a:lnSpc>
                  <a:spcPts val="2859"/>
                </a:lnSpc>
                <a:spcBef>
                  <a:spcPct val="0"/>
                </a:spcBef>
              </a:pPr>
              <a:r>
                <a:rPr lang="en-US" b="true" sz="2199">
                  <a:solidFill>
                    <a:srgbClr val="000000"/>
                  </a:solidFill>
                  <a:latin typeface="Antonio Bold"/>
                  <a:ea typeface="Antonio Bold"/>
                  <a:cs typeface="Antonio Bold"/>
                  <a:sym typeface="Antonio Bold"/>
                </a:rPr>
                <a:t>análisis</a:t>
              </a:r>
            </a:p>
          </p:txBody>
        </p:sp>
        <p:sp>
          <p:nvSpPr>
            <p:cNvPr name="TextBox 27" id="27"/>
            <p:cNvSpPr txBox="true"/>
            <p:nvPr/>
          </p:nvSpPr>
          <p:spPr>
            <a:xfrm rot="0">
              <a:off x="3957307" y="-19050"/>
              <a:ext cx="3130576" cy="464397"/>
            </a:xfrm>
            <a:prstGeom prst="rect">
              <a:avLst/>
            </a:prstGeom>
          </p:spPr>
          <p:txBody>
            <a:bodyPr anchor="t" rtlCol="false" tIns="0" lIns="0" bIns="0" rIns="0">
              <a:spAutoFit/>
            </a:bodyPr>
            <a:lstStyle/>
            <a:p>
              <a:pPr algn="ctr" marL="0" indent="0" lvl="0">
                <a:lnSpc>
                  <a:spcPts val="2859"/>
                </a:lnSpc>
                <a:spcBef>
                  <a:spcPct val="0"/>
                </a:spcBef>
              </a:pPr>
              <a:r>
                <a:rPr lang="en-US" b="true" sz="2199">
                  <a:solidFill>
                    <a:srgbClr val="000000"/>
                  </a:solidFill>
                  <a:latin typeface="Antonio Bold"/>
                  <a:ea typeface="Antonio Bold"/>
                  <a:cs typeface="Antonio Bold"/>
                  <a:sym typeface="Antonio Bold"/>
                </a:rPr>
                <a:t>conceptualización</a:t>
              </a:r>
            </a:p>
          </p:txBody>
        </p:sp>
        <p:sp>
          <p:nvSpPr>
            <p:cNvPr name="TextBox 28" id="28"/>
            <p:cNvSpPr txBox="true"/>
            <p:nvPr/>
          </p:nvSpPr>
          <p:spPr>
            <a:xfrm rot="0">
              <a:off x="11873461" y="-19050"/>
              <a:ext cx="3130576" cy="464397"/>
            </a:xfrm>
            <a:prstGeom prst="rect">
              <a:avLst/>
            </a:prstGeom>
          </p:spPr>
          <p:txBody>
            <a:bodyPr anchor="t" rtlCol="false" tIns="0" lIns="0" bIns="0" rIns="0">
              <a:spAutoFit/>
            </a:bodyPr>
            <a:lstStyle/>
            <a:p>
              <a:pPr algn="ctr" marL="0" indent="0" lvl="0">
                <a:lnSpc>
                  <a:spcPts val="2859"/>
                </a:lnSpc>
                <a:spcBef>
                  <a:spcPct val="0"/>
                </a:spcBef>
              </a:pPr>
              <a:r>
                <a:rPr lang="en-US" b="true" sz="2199">
                  <a:solidFill>
                    <a:srgbClr val="000000"/>
                  </a:solidFill>
                  <a:latin typeface="Antonio Bold"/>
                  <a:ea typeface="Antonio Bold"/>
                  <a:cs typeface="Antonio Bold"/>
                  <a:sym typeface="Antonio Bold"/>
                </a:rPr>
                <a:t>ejecución</a:t>
              </a:r>
            </a:p>
          </p:txBody>
        </p:sp>
        <p:sp>
          <p:nvSpPr>
            <p:cNvPr name="AutoShape 29" id="29"/>
            <p:cNvSpPr/>
            <p:nvPr/>
          </p:nvSpPr>
          <p:spPr>
            <a:xfrm>
              <a:off x="2908848" y="2037510"/>
              <a:ext cx="1237958" cy="0"/>
            </a:xfrm>
            <a:prstGeom prst="line">
              <a:avLst/>
            </a:prstGeom>
            <a:ln cap="flat" w="50800">
              <a:solidFill>
                <a:srgbClr val="000000"/>
              </a:solidFill>
              <a:prstDash val="solid"/>
              <a:headEnd type="none" len="sm" w="sm"/>
              <a:tailEnd type="triangle" len="med" w="lg"/>
            </a:ln>
          </p:spPr>
        </p:sp>
        <p:sp>
          <p:nvSpPr>
            <p:cNvPr name="AutoShape 30" id="30"/>
            <p:cNvSpPr/>
            <p:nvPr/>
          </p:nvSpPr>
          <p:spPr>
            <a:xfrm>
              <a:off x="6896520" y="2037510"/>
              <a:ext cx="1237958" cy="0"/>
            </a:xfrm>
            <a:prstGeom prst="line">
              <a:avLst/>
            </a:prstGeom>
            <a:ln cap="flat" w="50800">
              <a:solidFill>
                <a:srgbClr val="000000"/>
              </a:solidFill>
              <a:prstDash val="solid"/>
              <a:headEnd type="none" len="sm" w="sm"/>
              <a:tailEnd type="triangle" len="med" w="lg"/>
            </a:ln>
          </p:spPr>
        </p:sp>
        <p:sp>
          <p:nvSpPr>
            <p:cNvPr name="AutoShape 31" id="31"/>
            <p:cNvSpPr/>
            <p:nvPr/>
          </p:nvSpPr>
          <p:spPr>
            <a:xfrm>
              <a:off x="10837731" y="2037510"/>
              <a:ext cx="1237958" cy="0"/>
            </a:xfrm>
            <a:prstGeom prst="line">
              <a:avLst/>
            </a:prstGeom>
            <a:ln cap="flat" w="50800">
              <a:solidFill>
                <a:srgbClr val="000000"/>
              </a:solidFill>
              <a:prstDash val="solid"/>
              <a:headEnd type="none" len="sm" w="sm"/>
              <a:tailEnd type="triangle" len="med" w="lg"/>
            </a:ln>
          </p:spPr>
        </p:sp>
        <p:sp>
          <p:nvSpPr>
            <p:cNvPr name="AutoShape 32" id="32"/>
            <p:cNvSpPr/>
            <p:nvPr/>
          </p:nvSpPr>
          <p:spPr>
            <a:xfrm>
              <a:off x="14814537" y="2037510"/>
              <a:ext cx="1237958" cy="0"/>
            </a:xfrm>
            <a:prstGeom prst="line">
              <a:avLst/>
            </a:prstGeom>
            <a:ln cap="flat" w="50800">
              <a:solidFill>
                <a:srgbClr val="000000"/>
              </a:solidFill>
              <a:prstDash val="solid"/>
              <a:headEnd type="none" len="sm" w="sm"/>
              <a:tailEnd type="triangle" len="med" w="lg"/>
            </a:ln>
          </p:spPr>
        </p:sp>
      </p:grpSp>
      <p:sp>
        <p:nvSpPr>
          <p:cNvPr name="AutoShape 33" id="33"/>
          <p:cNvSpPr/>
          <p:nvPr/>
        </p:nvSpPr>
        <p:spPr>
          <a:xfrm flipV="true">
            <a:off x="3314119" y="8249819"/>
            <a:ext cx="0" cy="991042"/>
          </a:xfrm>
          <a:prstGeom prst="line">
            <a:avLst/>
          </a:prstGeom>
          <a:ln cap="flat" w="38100">
            <a:solidFill>
              <a:srgbClr val="FF1FA9"/>
            </a:solidFill>
            <a:prstDash val="sysDot"/>
            <a:headEnd type="none" len="sm" w="sm"/>
            <a:tailEnd type="arrow" len="sm" w="med"/>
          </a:ln>
        </p:spPr>
      </p:sp>
      <p:sp>
        <p:nvSpPr>
          <p:cNvPr name="AutoShape 34" id="34"/>
          <p:cNvSpPr/>
          <p:nvPr/>
        </p:nvSpPr>
        <p:spPr>
          <a:xfrm flipV="true">
            <a:off x="3314119" y="9298011"/>
            <a:ext cx="11828968" cy="0"/>
          </a:xfrm>
          <a:prstGeom prst="line">
            <a:avLst/>
          </a:prstGeom>
          <a:ln cap="flat" w="38100">
            <a:solidFill>
              <a:srgbClr val="FF1FA9"/>
            </a:solidFill>
            <a:prstDash val="sysDot"/>
            <a:headEnd type="none" len="sm" w="sm"/>
            <a:tailEnd type="none" len="sm" w="sm"/>
          </a:ln>
        </p:spPr>
      </p:sp>
      <p:sp>
        <p:nvSpPr>
          <p:cNvPr name="AutoShape 35" id="35"/>
          <p:cNvSpPr/>
          <p:nvPr/>
        </p:nvSpPr>
        <p:spPr>
          <a:xfrm flipV="true">
            <a:off x="15133562" y="7889745"/>
            <a:ext cx="0" cy="1360641"/>
          </a:xfrm>
          <a:prstGeom prst="line">
            <a:avLst/>
          </a:prstGeom>
          <a:ln cap="flat" w="38100">
            <a:solidFill>
              <a:srgbClr val="FF1FA9"/>
            </a:solidFill>
            <a:prstDash val="sysDot"/>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7114"/>
            <a:ext cx="18288000" cy="5041879"/>
          </a:xfrm>
          <a:custGeom>
            <a:avLst/>
            <a:gdLst/>
            <a:ahLst/>
            <a:cxnLst/>
            <a:rect r="r" b="b" t="t" l="l"/>
            <a:pathLst>
              <a:path h="5041879" w="18288000">
                <a:moveTo>
                  <a:pt x="0" y="0"/>
                </a:moveTo>
                <a:lnTo>
                  <a:pt x="18288000" y="0"/>
                </a:lnTo>
                <a:lnTo>
                  <a:pt x="18288000" y="5041879"/>
                </a:lnTo>
                <a:lnTo>
                  <a:pt x="0" y="5041879"/>
                </a:lnTo>
                <a:lnTo>
                  <a:pt x="0" y="0"/>
                </a:lnTo>
                <a:close/>
              </a:path>
            </a:pathLst>
          </a:custGeom>
          <a:blipFill>
            <a:blip r:embed="rId2"/>
            <a:stretch>
              <a:fillRect l="0" t="0" r="0" b="0"/>
            </a:stretch>
          </a:blipFill>
        </p:spPr>
      </p:sp>
      <p:sp>
        <p:nvSpPr>
          <p:cNvPr name="TextBox 3" id="3"/>
          <p:cNvSpPr txBox="true"/>
          <p:nvPr/>
        </p:nvSpPr>
        <p:spPr>
          <a:xfrm rot="0">
            <a:off x="-272307" y="8326434"/>
            <a:ext cx="16511882" cy="2378083"/>
          </a:xfrm>
          <a:prstGeom prst="rect">
            <a:avLst/>
          </a:prstGeom>
        </p:spPr>
        <p:txBody>
          <a:bodyPr anchor="t" rtlCol="false" tIns="0" lIns="0" bIns="0" rIns="0">
            <a:spAutoFit/>
          </a:bodyPr>
          <a:lstStyle/>
          <a:p>
            <a:pPr algn="l" marL="0" indent="0" lvl="0">
              <a:lnSpc>
                <a:spcPts val="18025"/>
              </a:lnSpc>
              <a:spcBef>
                <a:spcPct val="0"/>
              </a:spcBef>
            </a:pPr>
            <a:r>
              <a:rPr lang="en-US" b="true" sz="17500" spc="647">
                <a:solidFill>
                  <a:srgbClr val="000000"/>
                </a:solidFill>
                <a:latin typeface="Antonio Ultra-Bold"/>
                <a:ea typeface="Antonio Ultra-Bold"/>
                <a:cs typeface="Antonio Ultra-Bold"/>
                <a:sym typeface="Antonio Ultra-Bold"/>
              </a:rPr>
              <a:t>CALENDARIO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7114"/>
            <a:ext cx="18288000" cy="4936697"/>
          </a:xfrm>
          <a:custGeom>
            <a:avLst/>
            <a:gdLst/>
            <a:ahLst/>
            <a:cxnLst/>
            <a:rect r="r" b="b" t="t" l="l"/>
            <a:pathLst>
              <a:path h="4936697" w="18288000">
                <a:moveTo>
                  <a:pt x="0" y="0"/>
                </a:moveTo>
                <a:lnTo>
                  <a:pt x="18288000" y="0"/>
                </a:lnTo>
                <a:lnTo>
                  <a:pt x="18288000" y="4936697"/>
                </a:lnTo>
                <a:lnTo>
                  <a:pt x="0" y="4936697"/>
                </a:lnTo>
                <a:lnTo>
                  <a:pt x="0" y="0"/>
                </a:lnTo>
                <a:close/>
              </a:path>
            </a:pathLst>
          </a:custGeom>
          <a:blipFill>
            <a:blip r:embed="rId2"/>
            <a:stretch>
              <a:fillRect l="0" t="0" r="0" b="0"/>
            </a:stretch>
          </a:blipFill>
        </p:spPr>
      </p:sp>
      <p:sp>
        <p:nvSpPr>
          <p:cNvPr name="TextBox 3" id="3"/>
          <p:cNvSpPr txBox="true"/>
          <p:nvPr/>
        </p:nvSpPr>
        <p:spPr>
          <a:xfrm rot="0">
            <a:off x="-272307" y="8326434"/>
            <a:ext cx="16511882" cy="2378083"/>
          </a:xfrm>
          <a:prstGeom prst="rect">
            <a:avLst/>
          </a:prstGeom>
        </p:spPr>
        <p:txBody>
          <a:bodyPr anchor="t" rtlCol="false" tIns="0" lIns="0" bIns="0" rIns="0">
            <a:spAutoFit/>
          </a:bodyPr>
          <a:lstStyle/>
          <a:p>
            <a:pPr algn="l" marL="0" indent="0" lvl="0">
              <a:lnSpc>
                <a:spcPts val="18025"/>
              </a:lnSpc>
              <a:spcBef>
                <a:spcPct val="0"/>
              </a:spcBef>
            </a:pPr>
            <a:r>
              <a:rPr lang="en-US" b="true" sz="17500" spc="647">
                <a:solidFill>
                  <a:srgbClr val="000000"/>
                </a:solidFill>
                <a:latin typeface="Antonio Ultra-Bold"/>
                <a:ea typeface="Antonio Ultra-Bold"/>
                <a:cs typeface="Antonio Ultra-Bold"/>
                <a:sym typeface="Antonio Ultra-Bold"/>
              </a:rPr>
              <a:t>CALENDARIO</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75" y="8051800"/>
            <a:ext cx="17192625"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POLÍTICAS</a:t>
            </a:r>
          </a:p>
        </p:txBody>
      </p:sp>
      <p:sp>
        <p:nvSpPr>
          <p:cNvPr name="TextBox 3" id="3"/>
          <p:cNvSpPr txBox="true"/>
          <p:nvPr/>
        </p:nvSpPr>
        <p:spPr>
          <a:xfrm rot="0">
            <a:off x="2301147" y="1172290"/>
            <a:ext cx="13761343" cy="5345430"/>
          </a:xfrm>
          <a:prstGeom prst="rect">
            <a:avLst/>
          </a:prstGeom>
        </p:spPr>
        <p:txBody>
          <a:bodyPr anchor="t" rtlCol="false" tIns="0" lIns="0" bIns="0" rIns="0">
            <a:spAutoFit/>
          </a:bodyPr>
          <a:lstStyle/>
          <a:p>
            <a:pPr algn="l" marL="388620" indent="-194310" lvl="1">
              <a:lnSpc>
                <a:spcPts val="2520"/>
              </a:lnSpc>
              <a:buFont typeface="Arial"/>
              <a:buChar char="•"/>
            </a:pPr>
            <a:r>
              <a:rPr lang="en-US" sz="1800" spc="36">
                <a:solidFill>
                  <a:srgbClr val="000000"/>
                </a:solidFill>
                <a:latin typeface="Raleway"/>
                <a:ea typeface="Raleway"/>
                <a:cs typeface="Raleway"/>
                <a:sym typeface="Raleway"/>
              </a:rPr>
              <a:t>La </a:t>
            </a:r>
            <a:r>
              <a:rPr lang="en-US" b="true" sz="1800" spc="36">
                <a:solidFill>
                  <a:srgbClr val="FF1FA9"/>
                </a:solidFill>
                <a:latin typeface="Raleway Bold"/>
                <a:ea typeface="Raleway Bold"/>
                <a:cs typeface="Raleway Bold"/>
                <a:sym typeface="Raleway Bold"/>
              </a:rPr>
              <a:t>asistencia</a:t>
            </a:r>
            <a:r>
              <a:rPr lang="en-US" sz="1800" spc="36">
                <a:solidFill>
                  <a:srgbClr val="000000"/>
                </a:solidFill>
                <a:latin typeface="Raleway"/>
                <a:ea typeface="Raleway"/>
                <a:cs typeface="Raleway"/>
                <a:sym typeface="Raleway"/>
              </a:rPr>
              <a:t> se registra mediante la herramienta oficial de pase de lista de Canvas </a:t>
            </a:r>
            <a:r>
              <a:rPr lang="en-US" b="true" sz="1800" spc="36">
                <a:solidFill>
                  <a:srgbClr val="FF1FA9"/>
                </a:solidFill>
                <a:latin typeface="Raleway Bold"/>
                <a:ea typeface="Raleway Bold"/>
                <a:cs typeface="Raleway Bold"/>
                <a:sym typeface="Raleway Bold"/>
              </a:rPr>
              <a:t>durante los primeros diez (10) minutos de cada sesión. </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Es requisito para acreditar cada módulo de aprendizaje, </a:t>
            </a:r>
            <a:r>
              <a:rPr lang="en-US" b="true" sz="1800" spc="36">
                <a:solidFill>
                  <a:srgbClr val="FF1FA9"/>
                </a:solidFill>
                <a:latin typeface="Raleway Bold"/>
                <a:ea typeface="Raleway Bold"/>
                <a:cs typeface="Raleway Bold"/>
                <a:sym typeface="Raleway Bold"/>
              </a:rPr>
              <a:t>tener al menos un 80% de asistencia a las sesiones correspondientes de clase e inmersión en el reto.​</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Es responsabilidad del estudiante, dar seguimiento a la agenda y actividades que se planeen durante los módulos e inmersión en el reto, y estar al pendiente de cualquier cambio o ajuste.</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Las actividades subidas en Canvas deberán ser registradas en el espacio correspondiente, conforme a las indicaciones que se establezcan por parte del profesor.​</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Si hay una actividad ya programada en clase, ligada a una evaluación y un estudiante falta sin aviso previo, y justificación aceptada por el profesor, ésta no se reprogramará.​</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​Es requisito que en las fechas de entrega y presentación de resultados todos los estudiantes estén presentes; el no asistir implica perder la oportunidad de aclarar algún resultado.​</a:t>
            </a:r>
          </a:p>
          <a:p>
            <a:pPr algn="l" marL="388620" indent="-194310" lvl="1">
              <a:lnSpc>
                <a:spcPts val="2520"/>
              </a:lnSpc>
              <a:buFont typeface="Arial"/>
              <a:buChar char="•"/>
            </a:pPr>
            <a:r>
              <a:rPr lang="en-US" sz="1800" spc="36">
                <a:solidFill>
                  <a:srgbClr val="000000"/>
                </a:solidFill>
                <a:latin typeface="Raleway"/>
                <a:ea typeface="Raleway"/>
                <a:cs typeface="Raleway"/>
                <a:sym typeface="Raleway"/>
              </a:rPr>
              <a:t>Las recomendaciones y retroalimentación que se reciban durante estas presentaciones- entrega serán incorporadas, de acuerdo con lo que indique el grupo de docentes del bloque. ​</a:t>
            </a:r>
          </a:p>
          <a:p>
            <a:pPr algn="l" marL="388620" indent="-194310" lvl="1">
              <a:lnSpc>
                <a:spcPts val="2520"/>
              </a:lnSpc>
              <a:buFont typeface="Arial"/>
              <a:buChar char="•"/>
            </a:pPr>
            <a:r>
              <a:rPr lang="en-US" sz="1800" spc="36">
                <a:solidFill>
                  <a:srgbClr val="FF1FA9"/>
                </a:solidFill>
                <a:latin typeface="Raleway"/>
                <a:ea typeface="Raleway"/>
                <a:cs typeface="Raleway"/>
                <a:sym typeface="Raleway"/>
              </a:rPr>
              <a:t>Apegarse a la normatividad que el Reglamento Académico de Estudiantes de Profesional del Tecnológico de Monterrey, establece respecto de la Integridad Académica, y otros aspectos sobre el correcto desempeño y comportamiento estudiantil, fuera y dentro del campus.​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26646" y="3554261"/>
            <a:ext cx="2234707" cy="2234707"/>
          </a:xfrm>
          <a:custGeom>
            <a:avLst/>
            <a:gdLst/>
            <a:ahLst/>
            <a:cxnLst/>
            <a:rect r="r" b="b" t="t" l="l"/>
            <a:pathLst>
              <a:path h="2234707" w="2234707">
                <a:moveTo>
                  <a:pt x="0" y="0"/>
                </a:moveTo>
                <a:lnTo>
                  <a:pt x="2234708" y="0"/>
                </a:lnTo>
                <a:lnTo>
                  <a:pt x="2234708" y="2234708"/>
                </a:lnTo>
                <a:lnTo>
                  <a:pt x="0" y="2234708"/>
                </a:lnTo>
                <a:lnTo>
                  <a:pt x="0" y="0"/>
                </a:lnTo>
                <a:close/>
              </a:path>
            </a:pathLst>
          </a:custGeom>
          <a:blipFill>
            <a:blip r:embed="rId2"/>
            <a:stretch>
              <a:fillRect l="0" t="0" r="0" b="0"/>
            </a:stretch>
          </a:blipFill>
        </p:spPr>
      </p:sp>
      <p:sp>
        <p:nvSpPr>
          <p:cNvPr name="TextBox 3" id="3"/>
          <p:cNvSpPr txBox="true"/>
          <p:nvPr/>
        </p:nvSpPr>
        <p:spPr>
          <a:xfrm rot="0">
            <a:off x="66675" y="8051800"/>
            <a:ext cx="17192625"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POLÍTICAS</a:t>
            </a:r>
          </a:p>
        </p:txBody>
      </p:sp>
      <p:sp>
        <p:nvSpPr>
          <p:cNvPr name="TextBox 4" id="4"/>
          <p:cNvSpPr txBox="true"/>
          <p:nvPr/>
        </p:nvSpPr>
        <p:spPr>
          <a:xfrm rot="0">
            <a:off x="2812356" y="2305506"/>
            <a:ext cx="12663289" cy="970234"/>
          </a:xfrm>
          <a:prstGeom prst="rect">
            <a:avLst/>
          </a:prstGeom>
        </p:spPr>
        <p:txBody>
          <a:bodyPr anchor="t" rtlCol="false" tIns="0" lIns="0" bIns="0" rIns="0">
            <a:spAutoFit/>
          </a:bodyPr>
          <a:lstStyle/>
          <a:p>
            <a:pPr algn="ctr" marL="0" indent="0" lvl="0">
              <a:lnSpc>
                <a:spcPts val="7303"/>
              </a:lnSpc>
              <a:spcBef>
                <a:spcPct val="0"/>
              </a:spcBef>
            </a:pPr>
            <a:r>
              <a:rPr lang="en-US" sz="6890">
                <a:solidFill>
                  <a:srgbClr val="000000"/>
                </a:solidFill>
                <a:latin typeface="Raleway"/>
                <a:ea typeface="Raleway"/>
                <a:cs typeface="Raleway"/>
                <a:sym typeface="Raleway"/>
              </a:rPr>
              <a:t>firma tu documento</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177800"/>
            <a:ext cx="16270794" cy="2727326"/>
          </a:xfrm>
          <a:prstGeom prst="rect">
            <a:avLst/>
          </a:prstGeom>
        </p:spPr>
        <p:txBody>
          <a:bodyPr anchor="t" rtlCol="false" tIns="0" lIns="0" bIns="0" rIns="0">
            <a:spAutoFit/>
          </a:bodyPr>
          <a:lstStyle/>
          <a:p>
            <a:pPr algn="just" marL="0" indent="0" lvl="0">
              <a:lnSpc>
                <a:spcPts val="20600"/>
              </a:lnSpc>
              <a:spcBef>
                <a:spcPct val="0"/>
              </a:spcBef>
            </a:pPr>
            <a:r>
              <a:rPr lang="en-US" b="true" sz="20000" spc="740" strike="noStrike" u="none">
                <a:solidFill>
                  <a:srgbClr val="000000"/>
                </a:solidFill>
                <a:latin typeface="Antonio Ultra-Bold"/>
                <a:ea typeface="Antonio Ultra-Bold"/>
                <a:cs typeface="Antonio Ultra-Bold"/>
                <a:sym typeface="Antonio Ultra-Bold"/>
              </a:rPr>
              <a:t>MARCO TEÓRICO</a:t>
            </a:r>
          </a:p>
        </p:txBody>
      </p:sp>
      <p:sp>
        <p:nvSpPr>
          <p:cNvPr name="TextBox 3" id="3"/>
          <p:cNvSpPr txBox="true"/>
          <p:nvPr/>
        </p:nvSpPr>
        <p:spPr>
          <a:xfrm rot="0">
            <a:off x="9549435" y="4333179"/>
            <a:ext cx="6513055" cy="3508275"/>
          </a:xfrm>
          <a:prstGeom prst="rect">
            <a:avLst/>
          </a:prstGeom>
        </p:spPr>
        <p:txBody>
          <a:bodyPr anchor="t" rtlCol="false" tIns="0" lIns="0" bIns="0" rIns="0">
            <a:spAutoFit/>
          </a:bodyPr>
          <a:lstStyle/>
          <a:p>
            <a:pPr algn="l">
              <a:lnSpc>
                <a:spcPts val="3505"/>
              </a:lnSpc>
            </a:pPr>
            <a:r>
              <a:rPr lang="en-US" sz="2503" spc="50">
                <a:solidFill>
                  <a:srgbClr val="000000"/>
                </a:solidFill>
                <a:latin typeface="Raleway"/>
                <a:ea typeface="Raleway"/>
                <a:cs typeface="Raleway"/>
                <a:sym typeface="Raleway"/>
              </a:rPr>
              <a:t> Aenean vitae tellus eleifend, sodales nisi ut, pellentesque mi. Aenean pretium magna nec sollicitudin cursus. Duis lorem dolor, consequat sed mi quis, efficitur facilisis ex. Sed accumsan diam at ipsum fringilla mollistique semper. Nullam viverra, tortor a placerat dignissim, turpis turpis ultrices eros, vel tristique justo dui.</a:t>
            </a:r>
          </a:p>
        </p:txBody>
      </p:sp>
      <p:sp>
        <p:nvSpPr>
          <p:cNvPr name="TextBox 4" id="4"/>
          <p:cNvSpPr txBox="true"/>
          <p:nvPr/>
        </p:nvSpPr>
        <p:spPr>
          <a:xfrm rot="0">
            <a:off x="1028700" y="89999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5" id="5"/>
          <p:cNvSpPr txBox="true"/>
          <p:nvPr/>
        </p:nvSpPr>
        <p:spPr>
          <a:xfrm rot="0">
            <a:off x="14213859" y="89999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15164" y="0"/>
            <a:ext cx="8343219" cy="10477733"/>
            <a:chOff x="0" y="0"/>
            <a:chExt cx="1292583" cy="1623275"/>
          </a:xfrm>
        </p:grpSpPr>
        <p:sp>
          <p:nvSpPr>
            <p:cNvPr name="Freeform 3" id="3"/>
            <p:cNvSpPr/>
            <p:nvPr/>
          </p:nvSpPr>
          <p:spPr>
            <a:xfrm flipH="false" flipV="false" rot="0">
              <a:off x="0" y="0"/>
              <a:ext cx="1292583" cy="1623275"/>
            </a:xfrm>
            <a:custGeom>
              <a:avLst/>
              <a:gdLst/>
              <a:ahLst/>
              <a:cxnLst/>
              <a:rect r="r" b="b" t="t" l="l"/>
              <a:pathLst>
                <a:path h="1623275" w="1292583">
                  <a:moveTo>
                    <a:pt x="0" y="0"/>
                  </a:moveTo>
                  <a:lnTo>
                    <a:pt x="1292583" y="0"/>
                  </a:lnTo>
                  <a:lnTo>
                    <a:pt x="1292583" y="1623275"/>
                  </a:lnTo>
                  <a:lnTo>
                    <a:pt x="0" y="1623275"/>
                  </a:lnTo>
                  <a:close/>
                </a:path>
              </a:pathLst>
            </a:custGeom>
            <a:blipFill>
              <a:blip r:embed="rId2"/>
              <a:stretch>
                <a:fillRect l="-57797" t="0" r="-57797" b="0"/>
              </a:stretch>
            </a:blipFill>
          </p:spPr>
        </p:sp>
      </p:grpSp>
      <p:sp>
        <p:nvSpPr>
          <p:cNvPr name="TextBox 4" id="4"/>
          <p:cNvSpPr txBox="true"/>
          <p:nvPr/>
        </p:nvSpPr>
        <p:spPr>
          <a:xfrm rot="0">
            <a:off x="2225510" y="2162631"/>
            <a:ext cx="6491445" cy="569902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congue ante. Phasellus sodales tristique semper. Nullam viverra, tortor a placerat dignissim, turpis turpis ultrices eros, vel tristique justo dui a turpis. Aenean vitae tellus eleifend, sodales nisi ut, pellentesque mi. Aenean pretium magna nec sollicitudin cursus. Duis lorem dolor, consequat sed mi quis, efficitur facilisis ex.</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051800"/>
            <a:ext cx="14191000" cy="2727326"/>
          </a:xfrm>
          <a:prstGeom prst="rect">
            <a:avLst/>
          </a:prstGeom>
        </p:spPr>
        <p:txBody>
          <a:bodyPr anchor="t" rtlCol="false" tIns="0" lIns="0" bIns="0" rIns="0">
            <a:spAutoFit/>
          </a:bodyPr>
          <a:lstStyle/>
          <a:p>
            <a:pPr algn="just" marL="0" indent="0" lvl="0">
              <a:lnSpc>
                <a:spcPts val="20600"/>
              </a:lnSpc>
              <a:spcBef>
                <a:spcPct val="0"/>
              </a:spcBef>
            </a:pPr>
            <a:r>
              <a:rPr lang="en-US" b="true" sz="20000" spc="740" strike="noStrike" u="none">
                <a:solidFill>
                  <a:srgbClr val="000000"/>
                </a:solidFill>
                <a:latin typeface="Antonio Ultra-Bold"/>
                <a:ea typeface="Antonio Ultra-Bold"/>
                <a:cs typeface="Antonio Ultra-Bold"/>
                <a:sym typeface="Antonio Ultra-Bold"/>
              </a:rPr>
              <a:t>DESARROLLO</a:t>
            </a:r>
          </a:p>
        </p:txBody>
      </p:sp>
      <p:sp>
        <p:nvSpPr>
          <p:cNvPr name="TextBox 3" id="3"/>
          <p:cNvSpPr txBox="true"/>
          <p:nvPr/>
        </p:nvSpPr>
        <p:spPr>
          <a:xfrm rot="0">
            <a:off x="2225510" y="2162631"/>
            <a:ext cx="6513055" cy="350827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congue ante. Phasellus sodales tristique semper. Nullam viverra, tortor a placerat dignissim, turpis turpis ultrices eros.</a:t>
            </a:r>
          </a:p>
        </p:txBody>
      </p:sp>
      <p:sp>
        <p:nvSpPr>
          <p:cNvPr name="TextBox 4" id="4"/>
          <p:cNvSpPr txBox="true"/>
          <p:nvPr/>
        </p:nvSpPr>
        <p:spPr>
          <a:xfrm rot="0">
            <a:off x="9549435" y="2162631"/>
            <a:ext cx="6513055" cy="3070125"/>
          </a:xfrm>
          <a:prstGeom prst="rect">
            <a:avLst/>
          </a:prstGeom>
        </p:spPr>
        <p:txBody>
          <a:bodyPr anchor="t" rtlCol="false" tIns="0" lIns="0" bIns="0" rIns="0">
            <a:spAutoFit/>
          </a:bodyPr>
          <a:lstStyle/>
          <a:p>
            <a:pPr algn="l" marL="0" indent="0" lvl="0">
              <a:lnSpc>
                <a:spcPts val="3505"/>
              </a:lnSpc>
              <a:spcBef>
                <a:spcPct val="0"/>
              </a:spcBef>
            </a:pPr>
            <a:r>
              <a:rPr lang="en-US" sz="2503" spc="50">
                <a:solidFill>
                  <a:srgbClr val="000000"/>
                </a:solidFill>
                <a:latin typeface="Raleway"/>
                <a:ea typeface="Raleway"/>
                <a:cs typeface="Raleway"/>
                <a:sym typeface="Raleway"/>
              </a:rPr>
              <a:t>V</a:t>
            </a:r>
            <a:r>
              <a:rPr lang="en-US" sz="2503" spc="50" strike="noStrike" u="none">
                <a:solidFill>
                  <a:srgbClr val="000000"/>
                </a:solidFill>
                <a:latin typeface="Raleway"/>
                <a:ea typeface="Raleway"/>
                <a:cs typeface="Raleway"/>
                <a:sym typeface="Raleway"/>
              </a:rPr>
              <a:t>el tristique justo dui a turpis. Aenean vitae tellus eleifend, sodales nisi ut, pellentesque mi. Aenean pretium magna nec sollicitudin cursus. Duis lorem dolor, consequat sed mi quis, efficitur facilisis ex. Sed accumsan diam at ipsum fringilla mollis.</a:t>
            </a:r>
          </a:p>
        </p:txBody>
      </p:sp>
      <p:sp>
        <p:nvSpPr>
          <p:cNvPr name="TextBox 5" id="5"/>
          <p:cNvSpPr txBox="true"/>
          <p:nvPr/>
        </p:nvSpPr>
        <p:spPr>
          <a:xfrm rot="0">
            <a:off x="1028700" y="7703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6" id="6"/>
          <p:cNvSpPr txBox="true"/>
          <p:nvPr/>
        </p:nvSpPr>
        <p:spPr>
          <a:xfrm rot="0">
            <a:off x="14213859" y="7703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25510" y="6420610"/>
            <a:ext cx="6173481" cy="1637085"/>
          </a:xfrm>
          <a:prstGeom prst="rect">
            <a:avLst/>
          </a:prstGeom>
        </p:spPr>
        <p:txBody>
          <a:bodyPr anchor="t" rtlCol="false" tIns="0" lIns="0" bIns="0" rIns="0">
            <a:spAutoFit/>
          </a:bodyPr>
          <a:lstStyle/>
          <a:p>
            <a:pPr algn="l" marL="438747" indent="-219374" lvl="1">
              <a:lnSpc>
                <a:spcPts val="2641"/>
              </a:lnSpc>
              <a:buAutoNum type="arabicPeriod" startAt="1"/>
            </a:pPr>
            <a:r>
              <a:rPr lang="en-US" sz="2032">
                <a:solidFill>
                  <a:srgbClr val="000000"/>
                </a:solidFill>
                <a:latin typeface="Antonio"/>
                <a:ea typeface="Antonio"/>
                <a:cs typeface="Antonio"/>
                <a:sym typeface="Antonio"/>
              </a:rPr>
              <a:t>Expresar los fundamentos del diseño desde un enfoque sistémico para dar solución a problemas disciplinares.</a:t>
            </a:r>
          </a:p>
          <a:p>
            <a:pPr algn="l" marL="438747" indent="-219374" lvl="1">
              <a:lnSpc>
                <a:spcPts val="2641"/>
              </a:lnSpc>
              <a:buAutoNum type="arabicPeriod" startAt="1"/>
            </a:pPr>
            <a:r>
              <a:rPr lang="en-US" sz="2032">
                <a:solidFill>
                  <a:srgbClr val="000000"/>
                </a:solidFill>
                <a:latin typeface="Antonio"/>
                <a:ea typeface="Antonio"/>
                <a:cs typeface="Antonio"/>
                <a:sym typeface="Antonio"/>
              </a:rPr>
              <a:t>Explorar alternativas que generan valor, mediante la ideación creativa que reta el pensamiento convencional, desde los fundamentos del diseño. </a:t>
            </a:r>
          </a:p>
        </p:txBody>
      </p:sp>
      <p:sp>
        <p:nvSpPr>
          <p:cNvPr name="TextBox 3" id="3"/>
          <p:cNvSpPr txBox="true"/>
          <p:nvPr/>
        </p:nvSpPr>
        <p:spPr>
          <a:xfrm rot="0">
            <a:off x="2225510" y="5701775"/>
            <a:ext cx="6173481" cy="407640"/>
          </a:xfrm>
          <a:prstGeom prst="rect">
            <a:avLst/>
          </a:prstGeom>
        </p:spPr>
        <p:txBody>
          <a:bodyPr anchor="t" rtlCol="false" tIns="0" lIns="0" bIns="0" rIns="0">
            <a:spAutoFit/>
          </a:bodyPr>
          <a:lstStyle/>
          <a:p>
            <a:pPr algn="l">
              <a:lnSpc>
                <a:spcPts val="3302"/>
              </a:lnSpc>
            </a:pPr>
            <a:r>
              <a:rPr lang="en-US" sz="2540" b="true">
                <a:solidFill>
                  <a:srgbClr val="000000"/>
                </a:solidFill>
                <a:latin typeface="Antonio Bold"/>
                <a:ea typeface="Antonio Bold"/>
                <a:cs typeface="Antonio Bold"/>
                <a:sym typeface="Antonio Bold"/>
              </a:rPr>
              <a:t>Fines de aprendizaje</a:t>
            </a:r>
          </a:p>
        </p:txBody>
      </p:sp>
      <p:sp>
        <p:nvSpPr>
          <p:cNvPr name="TextBox 4" id="4"/>
          <p:cNvSpPr txBox="true"/>
          <p:nvPr/>
        </p:nvSpPr>
        <p:spPr>
          <a:xfrm rot="0">
            <a:off x="2225510" y="2372181"/>
            <a:ext cx="6513055" cy="1479163"/>
          </a:xfrm>
          <a:prstGeom prst="rect">
            <a:avLst/>
          </a:prstGeom>
        </p:spPr>
        <p:txBody>
          <a:bodyPr anchor="t" rtlCol="false" tIns="0" lIns="0" bIns="0" rIns="0">
            <a:spAutoFit/>
          </a:bodyPr>
          <a:lstStyle/>
          <a:p>
            <a:pPr algn="l" marL="0" indent="0" lvl="0">
              <a:lnSpc>
                <a:spcPts val="11330"/>
              </a:lnSpc>
              <a:spcBef>
                <a:spcPct val="0"/>
              </a:spcBef>
            </a:pPr>
            <a:r>
              <a:rPr lang="en-US" sz="10689">
                <a:solidFill>
                  <a:srgbClr val="000000"/>
                </a:solidFill>
                <a:latin typeface="Antonio"/>
                <a:ea typeface="Antonio"/>
                <a:cs typeface="Antonio"/>
                <a:sym typeface="Antonio"/>
              </a:rPr>
              <a:t>METODOLOGÍA</a:t>
            </a:r>
          </a:p>
        </p:txBody>
      </p:sp>
      <p:grpSp>
        <p:nvGrpSpPr>
          <p:cNvPr name="Group 5" id="5"/>
          <p:cNvGrpSpPr/>
          <p:nvPr/>
        </p:nvGrpSpPr>
        <p:grpSpPr>
          <a:xfrm rot="0">
            <a:off x="9024470" y="4565513"/>
            <a:ext cx="1686175" cy="4270415"/>
            <a:chOff x="0" y="0"/>
            <a:chExt cx="346950" cy="878686"/>
          </a:xfrm>
        </p:grpSpPr>
        <p:sp>
          <p:nvSpPr>
            <p:cNvPr name="Freeform 6" id="6"/>
            <p:cNvSpPr/>
            <p:nvPr/>
          </p:nvSpPr>
          <p:spPr>
            <a:xfrm flipH="false" flipV="false" rot="0">
              <a:off x="0" y="0"/>
              <a:ext cx="346950" cy="878686"/>
            </a:xfrm>
            <a:custGeom>
              <a:avLst/>
              <a:gdLst/>
              <a:ahLst/>
              <a:cxnLst/>
              <a:rect r="r" b="b" t="t" l="l"/>
              <a:pathLst>
                <a:path h="878686" w="346950">
                  <a:moveTo>
                    <a:pt x="89676" y="0"/>
                  </a:moveTo>
                  <a:lnTo>
                    <a:pt x="257274" y="0"/>
                  </a:lnTo>
                  <a:cubicBezTo>
                    <a:pt x="281057" y="0"/>
                    <a:pt x="303867" y="9448"/>
                    <a:pt x="320684" y="26265"/>
                  </a:cubicBezTo>
                  <a:cubicBezTo>
                    <a:pt x="337502" y="43083"/>
                    <a:pt x="346950" y="65892"/>
                    <a:pt x="346950" y="89676"/>
                  </a:cubicBezTo>
                  <a:lnTo>
                    <a:pt x="346950" y="789010"/>
                  </a:lnTo>
                  <a:cubicBezTo>
                    <a:pt x="346950" y="812794"/>
                    <a:pt x="337502" y="835603"/>
                    <a:pt x="320684" y="852421"/>
                  </a:cubicBezTo>
                  <a:cubicBezTo>
                    <a:pt x="303867" y="869238"/>
                    <a:pt x="281057" y="878686"/>
                    <a:pt x="257274" y="878686"/>
                  </a:cubicBezTo>
                  <a:lnTo>
                    <a:pt x="89676" y="878686"/>
                  </a:lnTo>
                  <a:cubicBezTo>
                    <a:pt x="65892" y="878686"/>
                    <a:pt x="43083" y="869238"/>
                    <a:pt x="26265" y="852421"/>
                  </a:cubicBezTo>
                  <a:cubicBezTo>
                    <a:pt x="9448" y="835603"/>
                    <a:pt x="0" y="812794"/>
                    <a:pt x="0" y="789010"/>
                  </a:cubicBezTo>
                  <a:lnTo>
                    <a:pt x="0" y="89676"/>
                  </a:lnTo>
                  <a:cubicBezTo>
                    <a:pt x="0" y="65892"/>
                    <a:pt x="9448" y="43083"/>
                    <a:pt x="26265" y="26265"/>
                  </a:cubicBezTo>
                  <a:cubicBezTo>
                    <a:pt x="43083" y="9448"/>
                    <a:pt x="65892" y="0"/>
                    <a:pt x="89676" y="0"/>
                  </a:cubicBezTo>
                  <a:close/>
                </a:path>
              </a:pathLst>
            </a:custGeom>
            <a:solidFill>
              <a:srgbClr val="FF1FA9"/>
            </a:solidFill>
          </p:spPr>
        </p:sp>
        <p:sp>
          <p:nvSpPr>
            <p:cNvPr name="TextBox 7" id="7"/>
            <p:cNvSpPr txBox="true"/>
            <p:nvPr/>
          </p:nvSpPr>
          <p:spPr>
            <a:xfrm>
              <a:off x="0" y="-66675"/>
              <a:ext cx="346950" cy="945361"/>
            </a:xfrm>
            <a:prstGeom prst="rect">
              <a:avLst/>
            </a:prstGeom>
          </p:spPr>
          <p:txBody>
            <a:bodyPr anchor="ctr" rtlCol="false" tIns="50800" lIns="50800" bIns="50800" rIns="50800"/>
            <a:lstStyle/>
            <a:p>
              <a:pPr algn="ctr">
                <a:lnSpc>
                  <a:spcPts val="3542"/>
                </a:lnSpc>
              </a:pPr>
            </a:p>
          </p:txBody>
        </p:sp>
      </p:grpSp>
      <p:grpSp>
        <p:nvGrpSpPr>
          <p:cNvPr name="Group 8" id="8"/>
          <p:cNvGrpSpPr/>
          <p:nvPr/>
        </p:nvGrpSpPr>
        <p:grpSpPr>
          <a:xfrm rot="0">
            <a:off x="11120219" y="4565513"/>
            <a:ext cx="1686175" cy="4270415"/>
            <a:chOff x="0" y="0"/>
            <a:chExt cx="346950" cy="878686"/>
          </a:xfrm>
        </p:grpSpPr>
        <p:sp>
          <p:nvSpPr>
            <p:cNvPr name="Freeform 9" id="9"/>
            <p:cNvSpPr/>
            <p:nvPr/>
          </p:nvSpPr>
          <p:spPr>
            <a:xfrm flipH="false" flipV="false" rot="0">
              <a:off x="0" y="0"/>
              <a:ext cx="346950" cy="878686"/>
            </a:xfrm>
            <a:custGeom>
              <a:avLst/>
              <a:gdLst/>
              <a:ahLst/>
              <a:cxnLst/>
              <a:rect r="r" b="b" t="t" l="l"/>
              <a:pathLst>
                <a:path h="878686" w="346950">
                  <a:moveTo>
                    <a:pt x="89676" y="0"/>
                  </a:moveTo>
                  <a:lnTo>
                    <a:pt x="257274" y="0"/>
                  </a:lnTo>
                  <a:cubicBezTo>
                    <a:pt x="281057" y="0"/>
                    <a:pt x="303867" y="9448"/>
                    <a:pt x="320684" y="26265"/>
                  </a:cubicBezTo>
                  <a:cubicBezTo>
                    <a:pt x="337502" y="43083"/>
                    <a:pt x="346950" y="65892"/>
                    <a:pt x="346950" y="89676"/>
                  </a:cubicBezTo>
                  <a:lnTo>
                    <a:pt x="346950" y="789010"/>
                  </a:lnTo>
                  <a:cubicBezTo>
                    <a:pt x="346950" y="812794"/>
                    <a:pt x="337502" y="835603"/>
                    <a:pt x="320684" y="852421"/>
                  </a:cubicBezTo>
                  <a:cubicBezTo>
                    <a:pt x="303867" y="869238"/>
                    <a:pt x="281057" y="878686"/>
                    <a:pt x="257274" y="878686"/>
                  </a:cubicBezTo>
                  <a:lnTo>
                    <a:pt x="89676" y="878686"/>
                  </a:lnTo>
                  <a:cubicBezTo>
                    <a:pt x="65892" y="878686"/>
                    <a:pt x="43083" y="869238"/>
                    <a:pt x="26265" y="852421"/>
                  </a:cubicBezTo>
                  <a:cubicBezTo>
                    <a:pt x="9448" y="835603"/>
                    <a:pt x="0" y="812794"/>
                    <a:pt x="0" y="789010"/>
                  </a:cubicBezTo>
                  <a:lnTo>
                    <a:pt x="0" y="89676"/>
                  </a:lnTo>
                  <a:cubicBezTo>
                    <a:pt x="0" y="65892"/>
                    <a:pt x="9448" y="43083"/>
                    <a:pt x="26265" y="26265"/>
                  </a:cubicBezTo>
                  <a:cubicBezTo>
                    <a:pt x="43083" y="9448"/>
                    <a:pt x="65892" y="0"/>
                    <a:pt x="89676" y="0"/>
                  </a:cubicBezTo>
                  <a:close/>
                </a:path>
              </a:pathLst>
            </a:custGeom>
            <a:solidFill>
              <a:srgbClr val="FF1FA9"/>
            </a:solidFill>
          </p:spPr>
        </p:sp>
        <p:sp>
          <p:nvSpPr>
            <p:cNvPr name="TextBox 10" id="10"/>
            <p:cNvSpPr txBox="true"/>
            <p:nvPr/>
          </p:nvSpPr>
          <p:spPr>
            <a:xfrm>
              <a:off x="0" y="-66675"/>
              <a:ext cx="346950" cy="945361"/>
            </a:xfrm>
            <a:prstGeom prst="rect">
              <a:avLst/>
            </a:prstGeom>
          </p:spPr>
          <p:txBody>
            <a:bodyPr anchor="ctr" rtlCol="false" tIns="50800" lIns="50800" bIns="50800" rIns="50800"/>
            <a:lstStyle/>
            <a:p>
              <a:pPr algn="ctr">
                <a:lnSpc>
                  <a:spcPts val="3542"/>
                </a:lnSpc>
              </a:pPr>
            </a:p>
          </p:txBody>
        </p:sp>
      </p:grpSp>
      <p:grpSp>
        <p:nvGrpSpPr>
          <p:cNvPr name="Group 11" id="11"/>
          <p:cNvGrpSpPr/>
          <p:nvPr/>
        </p:nvGrpSpPr>
        <p:grpSpPr>
          <a:xfrm rot="0">
            <a:off x="13215969" y="4565513"/>
            <a:ext cx="1686175" cy="4270415"/>
            <a:chOff x="0" y="0"/>
            <a:chExt cx="346950" cy="878686"/>
          </a:xfrm>
        </p:grpSpPr>
        <p:sp>
          <p:nvSpPr>
            <p:cNvPr name="Freeform 12" id="12"/>
            <p:cNvSpPr/>
            <p:nvPr/>
          </p:nvSpPr>
          <p:spPr>
            <a:xfrm flipH="false" flipV="false" rot="0">
              <a:off x="0" y="0"/>
              <a:ext cx="346950" cy="878686"/>
            </a:xfrm>
            <a:custGeom>
              <a:avLst/>
              <a:gdLst/>
              <a:ahLst/>
              <a:cxnLst/>
              <a:rect r="r" b="b" t="t" l="l"/>
              <a:pathLst>
                <a:path h="878686" w="346950">
                  <a:moveTo>
                    <a:pt x="89676" y="0"/>
                  </a:moveTo>
                  <a:lnTo>
                    <a:pt x="257274" y="0"/>
                  </a:lnTo>
                  <a:cubicBezTo>
                    <a:pt x="281057" y="0"/>
                    <a:pt x="303867" y="9448"/>
                    <a:pt x="320684" y="26265"/>
                  </a:cubicBezTo>
                  <a:cubicBezTo>
                    <a:pt x="337502" y="43083"/>
                    <a:pt x="346950" y="65892"/>
                    <a:pt x="346950" y="89676"/>
                  </a:cubicBezTo>
                  <a:lnTo>
                    <a:pt x="346950" y="789010"/>
                  </a:lnTo>
                  <a:cubicBezTo>
                    <a:pt x="346950" y="812794"/>
                    <a:pt x="337502" y="835603"/>
                    <a:pt x="320684" y="852421"/>
                  </a:cubicBezTo>
                  <a:cubicBezTo>
                    <a:pt x="303867" y="869238"/>
                    <a:pt x="281057" y="878686"/>
                    <a:pt x="257274" y="878686"/>
                  </a:cubicBezTo>
                  <a:lnTo>
                    <a:pt x="89676" y="878686"/>
                  </a:lnTo>
                  <a:cubicBezTo>
                    <a:pt x="65892" y="878686"/>
                    <a:pt x="43083" y="869238"/>
                    <a:pt x="26265" y="852421"/>
                  </a:cubicBezTo>
                  <a:cubicBezTo>
                    <a:pt x="9448" y="835603"/>
                    <a:pt x="0" y="812794"/>
                    <a:pt x="0" y="789010"/>
                  </a:cubicBezTo>
                  <a:lnTo>
                    <a:pt x="0" y="89676"/>
                  </a:lnTo>
                  <a:cubicBezTo>
                    <a:pt x="0" y="65892"/>
                    <a:pt x="9448" y="43083"/>
                    <a:pt x="26265" y="26265"/>
                  </a:cubicBezTo>
                  <a:cubicBezTo>
                    <a:pt x="43083" y="9448"/>
                    <a:pt x="65892" y="0"/>
                    <a:pt x="89676" y="0"/>
                  </a:cubicBezTo>
                  <a:close/>
                </a:path>
              </a:pathLst>
            </a:custGeom>
            <a:solidFill>
              <a:srgbClr val="FF1FA9"/>
            </a:solidFill>
          </p:spPr>
        </p:sp>
        <p:sp>
          <p:nvSpPr>
            <p:cNvPr name="TextBox 13" id="13"/>
            <p:cNvSpPr txBox="true"/>
            <p:nvPr/>
          </p:nvSpPr>
          <p:spPr>
            <a:xfrm>
              <a:off x="0" y="-66675"/>
              <a:ext cx="346950" cy="945361"/>
            </a:xfrm>
            <a:prstGeom prst="rect">
              <a:avLst/>
            </a:prstGeom>
          </p:spPr>
          <p:txBody>
            <a:bodyPr anchor="ctr" rtlCol="false" tIns="50800" lIns="50800" bIns="50800" rIns="50800"/>
            <a:lstStyle/>
            <a:p>
              <a:pPr algn="ctr">
                <a:lnSpc>
                  <a:spcPts val="3542"/>
                </a:lnSpc>
              </a:pPr>
            </a:p>
          </p:txBody>
        </p:sp>
      </p:grpSp>
      <p:grpSp>
        <p:nvGrpSpPr>
          <p:cNvPr name="Group 14" id="14"/>
          <p:cNvGrpSpPr/>
          <p:nvPr/>
        </p:nvGrpSpPr>
        <p:grpSpPr>
          <a:xfrm rot="0">
            <a:off x="15311718" y="4565513"/>
            <a:ext cx="1686175" cy="4270415"/>
            <a:chOff x="0" y="0"/>
            <a:chExt cx="346950" cy="878686"/>
          </a:xfrm>
        </p:grpSpPr>
        <p:sp>
          <p:nvSpPr>
            <p:cNvPr name="Freeform 15" id="15"/>
            <p:cNvSpPr/>
            <p:nvPr/>
          </p:nvSpPr>
          <p:spPr>
            <a:xfrm flipH="false" flipV="false" rot="0">
              <a:off x="0" y="0"/>
              <a:ext cx="346950" cy="878686"/>
            </a:xfrm>
            <a:custGeom>
              <a:avLst/>
              <a:gdLst/>
              <a:ahLst/>
              <a:cxnLst/>
              <a:rect r="r" b="b" t="t" l="l"/>
              <a:pathLst>
                <a:path h="878686" w="346950">
                  <a:moveTo>
                    <a:pt x="89676" y="0"/>
                  </a:moveTo>
                  <a:lnTo>
                    <a:pt x="257274" y="0"/>
                  </a:lnTo>
                  <a:cubicBezTo>
                    <a:pt x="281057" y="0"/>
                    <a:pt x="303867" y="9448"/>
                    <a:pt x="320684" y="26265"/>
                  </a:cubicBezTo>
                  <a:cubicBezTo>
                    <a:pt x="337502" y="43083"/>
                    <a:pt x="346950" y="65892"/>
                    <a:pt x="346950" y="89676"/>
                  </a:cubicBezTo>
                  <a:lnTo>
                    <a:pt x="346950" y="789010"/>
                  </a:lnTo>
                  <a:cubicBezTo>
                    <a:pt x="346950" y="812794"/>
                    <a:pt x="337502" y="835603"/>
                    <a:pt x="320684" y="852421"/>
                  </a:cubicBezTo>
                  <a:cubicBezTo>
                    <a:pt x="303867" y="869238"/>
                    <a:pt x="281057" y="878686"/>
                    <a:pt x="257274" y="878686"/>
                  </a:cubicBezTo>
                  <a:lnTo>
                    <a:pt x="89676" y="878686"/>
                  </a:lnTo>
                  <a:cubicBezTo>
                    <a:pt x="65892" y="878686"/>
                    <a:pt x="43083" y="869238"/>
                    <a:pt x="26265" y="852421"/>
                  </a:cubicBezTo>
                  <a:cubicBezTo>
                    <a:pt x="9448" y="835603"/>
                    <a:pt x="0" y="812794"/>
                    <a:pt x="0" y="789010"/>
                  </a:cubicBezTo>
                  <a:lnTo>
                    <a:pt x="0" y="89676"/>
                  </a:lnTo>
                  <a:cubicBezTo>
                    <a:pt x="0" y="65892"/>
                    <a:pt x="9448" y="43083"/>
                    <a:pt x="26265" y="26265"/>
                  </a:cubicBezTo>
                  <a:cubicBezTo>
                    <a:pt x="43083" y="9448"/>
                    <a:pt x="65892" y="0"/>
                    <a:pt x="89676" y="0"/>
                  </a:cubicBezTo>
                  <a:close/>
                </a:path>
              </a:pathLst>
            </a:custGeom>
            <a:solidFill>
              <a:srgbClr val="FF1FA9"/>
            </a:solidFill>
          </p:spPr>
        </p:sp>
        <p:sp>
          <p:nvSpPr>
            <p:cNvPr name="TextBox 16" id="16"/>
            <p:cNvSpPr txBox="true"/>
            <p:nvPr/>
          </p:nvSpPr>
          <p:spPr>
            <a:xfrm>
              <a:off x="0" y="-66675"/>
              <a:ext cx="346950" cy="945361"/>
            </a:xfrm>
            <a:prstGeom prst="rect">
              <a:avLst/>
            </a:prstGeom>
          </p:spPr>
          <p:txBody>
            <a:bodyPr anchor="ctr" rtlCol="false" tIns="50800" lIns="50800" bIns="50800" rIns="50800"/>
            <a:lstStyle/>
            <a:p>
              <a:pPr algn="ctr">
                <a:lnSpc>
                  <a:spcPts val="3542"/>
                </a:lnSpc>
              </a:pPr>
            </a:p>
          </p:txBody>
        </p:sp>
      </p:grpSp>
      <p:sp>
        <p:nvSpPr>
          <p:cNvPr name="TextBox 17" id="17"/>
          <p:cNvSpPr txBox="true"/>
          <p:nvPr/>
        </p:nvSpPr>
        <p:spPr>
          <a:xfrm rot="-5400000">
            <a:off x="8579838" y="5048446"/>
            <a:ext cx="1090223" cy="273584"/>
          </a:xfrm>
          <a:prstGeom prst="rect">
            <a:avLst/>
          </a:prstGeom>
        </p:spPr>
        <p:txBody>
          <a:bodyPr anchor="t" rtlCol="false" tIns="0" lIns="0" bIns="0" rIns="0">
            <a:spAutoFit/>
          </a:bodyPr>
          <a:lstStyle/>
          <a:p>
            <a:pPr algn="l" marL="0" indent="0" lvl="0">
              <a:lnSpc>
                <a:spcPts val="2245"/>
              </a:lnSpc>
              <a:spcBef>
                <a:spcPct val="0"/>
              </a:spcBef>
            </a:pPr>
            <a:r>
              <a:rPr lang="en-US" sz="1603" spc="32">
                <a:solidFill>
                  <a:srgbClr val="000000"/>
                </a:solidFill>
                <a:latin typeface="Raleway"/>
                <a:ea typeface="Raleway"/>
                <a:cs typeface="Raleway"/>
                <a:sym typeface="Raleway"/>
              </a:rPr>
              <a:t>semana 1</a:t>
            </a:r>
          </a:p>
        </p:txBody>
      </p:sp>
      <p:sp>
        <p:nvSpPr>
          <p:cNvPr name="TextBox 18" id="18"/>
          <p:cNvSpPr txBox="true"/>
          <p:nvPr/>
        </p:nvSpPr>
        <p:spPr>
          <a:xfrm rot="-5400000">
            <a:off x="10675588" y="5048446"/>
            <a:ext cx="1090223" cy="273584"/>
          </a:xfrm>
          <a:prstGeom prst="rect">
            <a:avLst/>
          </a:prstGeom>
        </p:spPr>
        <p:txBody>
          <a:bodyPr anchor="t" rtlCol="false" tIns="0" lIns="0" bIns="0" rIns="0">
            <a:spAutoFit/>
          </a:bodyPr>
          <a:lstStyle/>
          <a:p>
            <a:pPr algn="l" marL="0" indent="0" lvl="0">
              <a:lnSpc>
                <a:spcPts val="2245"/>
              </a:lnSpc>
              <a:spcBef>
                <a:spcPct val="0"/>
              </a:spcBef>
            </a:pPr>
            <a:r>
              <a:rPr lang="en-US" sz="1603" spc="32">
                <a:solidFill>
                  <a:srgbClr val="000000"/>
                </a:solidFill>
                <a:latin typeface="Raleway"/>
                <a:ea typeface="Raleway"/>
                <a:cs typeface="Raleway"/>
                <a:sym typeface="Raleway"/>
              </a:rPr>
              <a:t>semana 2</a:t>
            </a:r>
          </a:p>
        </p:txBody>
      </p:sp>
      <p:sp>
        <p:nvSpPr>
          <p:cNvPr name="TextBox 19" id="19"/>
          <p:cNvSpPr txBox="true"/>
          <p:nvPr/>
        </p:nvSpPr>
        <p:spPr>
          <a:xfrm rot="-5400000">
            <a:off x="12771338" y="5048446"/>
            <a:ext cx="1090223" cy="273584"/>
          </a:xfrm>
          <a:prstGeom prst="rect">
            <a:avLst/>
          </a:prstGeom>
        </p:spPr>
        <p:txBody>
          <a:bodyPr anchor="t" rtlCol="false" tIns="0" lIns="0" bIns="0" rIns="0">
            <a:spAutoFit/>
          </a:bodyPr>
          <a:lstStyle/>
          <a:p>
            <a:pPr algn="l" marL="0" indent="0" lvl="0">
              <a:lnSpc>
                <a:spcPts val="2245"/>
              </a:lnSpc>
              <a:spcBef>
                <a:spcPct val="0"/>
              </a:spcBef>
            </a:pPr>
            <a:r>
              <a:rPr lang="en-US" sz="1603" spc="32">
                <a:solidFill>
                  <a:srgbClr val="000000"/>
                </a:solidFill>
                <a:latin typeface="Raleway"/>
                <a:ea typeface="Raleway"/>
                <a:cs typeface="Raleway"/>
                <a:sym typeface="Raleway"/>
              </a:rPr>
              <a:t>semana 3</a:t>
            </a:r>
          </a:p>
        </p:txBody>
      </p:sp>
      <p:sp>
        <p:nvSpPr>
          <p:cNvPr name="TextBox 20" id="20"/>
          <p:cNvSpPr txBox="true"/>
          <p:nvPr/>
        </p:nvSpPr>
        <p:spPr>
          <a:xfrm rot="-5400000">
            <a:off x="14867087" y="5048446"/>
            <a:ext cx="1090223" cy="273584"/>
          </a:xfrm>
          <a:prstGeom prst="rect">
            <a:avLst/>
          </a:prstGeom>
        </p:spPr>
        <p:txBody>
          <a:bodyPr anchor="t" rtlCol="false" tIns="0" lIns="0" bIns="0" rIns="0">
            <a:spAutoFit/>
          </a:bodyPr>
          <a:lstStyle/>
          <a:p>
            <a:pPr algn="l" marL="0" indent="0" lvl="0">
              <a:lnSpc>
                <a:spcPts val="2245"/>
              </a:lnSpc>
              <a:spcBef>
                <a:spcPct val="0"/>
              </a:spcBef>
            </a:pPr>
            <a:r>
              <a:rPr lang="en-US" sz="1603" spc="32">
                <a:solidFill>
                  <a:srgbClr val="000000"/>
                </a:solidFill>
                <a:latin typeface="Raleway"/>
                <a:ea typeface="Raleway"/>
                <a:cs typeface="Raleway"/>
                <a:sym typeface="Raleway"/>
              </a:rPr>
              <a:t>semana 4</a:t>
            </a:r>
          </a:p>
        </p:txBody>
      </p:sp>
      <p:sp>
        <p:nvSpPr>
          <p:cNvPr name="TextBox 21" id="21"/>
          <p:cNvSpPr txBox="true"/>
          <p:nvPr/>
        </p:nvSpPr>
        <p:spPr>
          <a:xfrm rot="-5400000">
            <a:off x="8396172" y="6493014"/>
            <a:ext cx="291419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Trabajo bidimensional</a:t>
            </a:r>
          </a:p>
        </p:txBody>
      </p:sp>
      <p:sp>
        <p:nvSpPr>
          <p:cNvPr name="TextBox 22" id="22"/>
          <p:cNvSpPr txBox="true"/>
          <p:nvPr/>
        </p:nvSpPr>
        <p:spPr>
          <a:xfrm rot="-5400000">
            <a:off x="10491922" y="6493014"/>
            <a:ext cx="291419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Trabajo bidimensional</a:t>
            </a:r>
          </a:p>
        </p:txBody>
      </p:sp>
      <p:sp>
        <p:nvSpPr>
          <p:cNvPr name="TextBox 23" id="23"/>
          <p:cNvSpPr txBox="true"/>
          <p:nvPr/>
        </p:nvSpPr>
        <p:spPr>
          <a:xfrm rot="-5400000">
            <a:off x="12587672" y="6553438"/>
            <a:ext cx="291419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Trabajo tridimensional</a:t>
            </a:r>
          </a:p>
        </p:txBody>
      </p:sp>
      <p:sp>
        <p:nvSpPr>
          <p:cNvPr name="TextBox 24" id="24"/>
          <p:cNvSpPr txBox="true"/>
          <p:nvPr/>
        </p:nvSpPr>
        <p:spPr>
          <a:xfrm rot="-5400000">
            <a:off x="14683422" y="6553438"/>
            <a:ext cx="291419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Trabajo tridimensional</a:t>
            </a:r>
          </a:p>
        </p:txBody>
      </p:sp>
      <p:sp>
        <p:nvSpPr>
          <p:cNvPr name="TextBox 25" id="25"/>
          <p:cNvSpPr txBox="true"/>
          <p:nvPr/>
        </p:nvSpPr>
        <p:spPr>
          <a:xfrm rot="0">
            <a:off x="14772755" y="3814995"/>
            <a:ext cx="3420818" cy="415414"/>
          </a:xfrm>
          <a:prstGeom prst="rect">
            <a:avLst/>
          </a:prstGeom>
        </p:spPr>
        <p:txBody>
          <a:bodyPr anchor="t" rtlCol="false" tIns="0" lIns="0" bIns="0" rIns="0">
            <a:spAutoFit/>
          </a:bodyPr>
          <a:lstStyle/>
          <a:p>
            <a:pPr algn="ctr">
              <a:lnSpc>
                <a:spcPts val="3302"/>
              </a:lnSpc>
            </a:pPr>
            <a:r>
              <a:rPr lang="en-US" sz="2540" b="true">
                <a:solidFill>
                  <a:srgbClr val="000000"/>
                </a:solidFill>
                <a:latin typeface="Antonio Bold"/>
                <a:ea typeface="Antonio Bold"/>
                <a:cs typeface="Antonio Bold"/>
                <a:sym typeface="Antonio Bold"/>
              </a:rPr>
              <a:t>Reto: Arte Instalación</a:t>
            </a:r>
          </a:p>
        </p:txBody>
      </p:sp>
      <p:sp>
        <p:nvSpPr>
          <p:cNvPr name="TextBox 26" id="26"/>
          <p:cNvSpPr txBox="true"/>
          <p:nvPr/>
        </p:nvSpPr>
        <p:spPr>
          <a:xfrm rot="-5400000">
            <a:off x="9614557" y="6563928"/>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papel</a:t>
            </a:r>
          </a:p>
        </p:txBody>
      </p:sp>
      <p:sp>
        <p:nvSpPr>
          <p:cNvPr name="TextBox 27" id="27"/>
          <p:cNvSpPr txBox="true"/>
          <p:nvPr/>
        </p:nvSpPr>
        <p:spPr>
          <a:xfrm rot="-5400000">
            <a:off x="11723979" y="6563928"/>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batería</a:t>
            </a:r>
          </a:p>
        </p:txBody>
      </p:sp>
      <p:sp>
        <p:nvSpPr>
          <p:cNvPr name="TextBox 28" id="28"/>
          <p:cNvSpPr txBox="true"/>
          <p:nvPr/>
        </p:nvSpPr>
        <p:spPr>
          <a:xfrm rot="-5400000">
            <a:off x="13409650" y="6734133"/>
            <a:ext cx="1902085"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PLANO | estireno</a:t>
            </a:r>
          </a:p>
        </p:txBody>
      </p:sp>
      <p:sp>
        <p:nvSpPr>
          <p:cNvPr name="TextBox 29" id="29"/>
          <p:cNvSpPr txBox="true"/>
          <p:nvPr/>
        </p:nvSpPr>
        <p:spPr>
          <a:xfrm rot="-5400000">
            <a:off x="15099602" y="6734133"/>
            <a:ext cx="2694632"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VOLUMEN | madera balsa</a:t>
            </a:r>
          </a:p>
        </p:txBody>
      </p:sp>
      <p:grpSp>
        <p:nvGrpSpPr>
          <p:cNvPr name="Group 30" id="30"/>
          <p:cNvGrpSpPr/>
          <p:nvPr/>
        </p:nvGrpSpPr>
        <p:grpSpPr>
          <a:xfrm rot="5400000">
            <a:off x="9704482" y="1878064"/>
            <a:ext cx="2263713" cy="2253935"/>
            <a:chOff x="0" y="0"/>
            <a:chExt cx="465785" cy="463773"/>
          </a:xfrm>
        </p:grpSpPr>
        <p:sp>
          <p:nvSpPr>
            <p:cNvPr name="Freeform 31" id="31"/>
            <p:cNvSpPr/>
            <p:nvPr/>
          </p:nvSpPr>
          <p:spPr>
            <a:xfrm flipH="false" flipV="false" rot="0">
              <a:off x="0" y="0"/>
              <a:ext cx="465785" cy="463773"/>
            </a:xfrm>
            <a:custGeom>
              <a:avLst/>
              <a:gdLst/>
              <a:ahLst/>
              <a:cxnLst/>
              <a:rect r="r" b="b" t="t" l="l"/>
              <a:pathLst>
                <a:path h="463773" w="465785">
                  <a:moveTo>
                    <a:pt x="66797" y="0"/>
                  </a:moveTo>
                  <a:lnTo>
                    <a:pt x="398988" y="0"/>
                  </a:lnTo>
                  <a:cubicBezTo>
                    <a:pt x="435879" y="0"/>
                    <a:pt x="465785" y="29906"/>
                    <a:pt x="465785" y="66797"/>
                  </a:cubicBezTo>
                  <a:lnTo>
                    <a:pt x="465785" y="396976"/>
                  </a:lnTo>
                  <a:cubicBezTo>
                    <a:pt x="465785" y="433867"/>
                    <a:pt x="435879" y="463773"/>
                    <a:pt x="398988" y="463773"/>
                  </a:cubicBezTo>
                  <a:lnTo>
                    <a:pt x="66797" y="463773"/>
                  </a:lnTo>
                  <a:cubicBezTo>
                    <a:pt x="29906" y="463773"/>
                    <a:pt x="0" y="433867"/>
                    <a:pt x="0" y="396976"/>
                  </a:cubicBezTo>
                  <a:lnTo>
                    <a:pt x="0" y="66797"/>
                  </a:lnTo>
                  <a:cubicBezTo>
                    <a:pt x="0" y="29906"/>
                    <a:pt x="29906" y="0"/>
                    <a:pt x="66797" y="0"/>
                  </a:cubicBezTo>
                  <a:close/>
                </a:path>
              </a:pathLst>
            </a:custGeom>
            <a:solidFill>
              <a:srgbClr val="FF1FA9"/>
            </a:solidFill>
          </p:spPr>
        </p:sp>
        <p:sp>
          <p:nvSpPr>
            <p:cNvPr name="TextBox 32" id="32"/>
            <p:cNvSpPr txBox="true"/>
            <p:nvPr/>
          </p:nvSpPr>
          <p:spPr>
            <a:xfrm>
              <a:off x="0" y="-66675"/>
              <a:ext cx="465785" cy="530448"/>
            </a:xfrm>
            <a:prstGeom prst="rect">
              <a:avLst/>
            </a:prstGeom>
          </p:spPr>
          <p:txBody>
            <a:bodyPr anchor="ctr" rtlCol="false" tIns="50800" lIns="50800" bIns="50800" rIns="50800"/>
            <a:lstStyle/>
            <a:p>
              <a:pPr algn="ctr">
                <a:lnSpc>
                  <a:spcPts val="3542"/>
                </a:lnSpc>
              </a:pPr>
            </a:p>
          </p:txBody>
        </p:sp>
      </p:grpSp>
      <p:sp>
        <p:nvSpPr>
          <p:cNvPr name="TextBox 33" id="33"/>
          <p:cNvSpPr txBox="true"/>
          <p:nvPr/>
        </p:nvSpPr>
        <p:spPr>
          <a:xfrm rot="0">
            <a:off x="12814949" y="1836863"/>
            <a:ext cx="1090223" cy="273584"/>
          </a:xfrm>
          <a:prstGeom prst="rect">
            <a:avLst/>
          </a:prstGeom>
        </p:spPr>
        <p:txBody>
          <a:bodyPr anchor="t" rtlCol="false" tIns="0" lIns="0" bIns="0" rIns="0">
            <a:spAutoFit/>
          </a:bodyPr>
          <a:lstStyle/>
          <a:p>
            <a:pPr algn="l" marL="0" indent="0" lvl="0">
              <a:lnSpc>
                <a:spcPts val="2245"/>
              </a:lnSpc>
              <a:spcBef>
                <a:spcPct val="0"/>
              </a:spcBef>
            </a:pPr>
            <a:r>
              <a:rPr lang="en-US" sz="1603" spc="32">
                <a:solidFill>
                  <a:srgbClr val="000000"/>
                </a:solidFill>
                <a:latin typeface="Raleway"/>
                <a:ea typeface="Raleway"/>
                <a:cs typeface="Raleway"/>
                <a:sym typeface="Raleway"/>
              </a:rPr>
              <a:t>semana 1</a:t>
            </a:r>
          </a:p>
        </p:txBody>
      </p:sp>
      <p:sp>
        <p:nvSpPr>
          <p:cNvPr name="TextBox 34" id="34"/>
          <p:cNvSpPr txBox="true"/>
          <p:nvPr/>
        </p:nvSpPr>
        <p:spPr>
          <a:xfrm rot="0">
            <a:off x="10387482" y="2494268"/>
            <a:ext cx="291419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Trabajo bidimensional</a:t>
            </a:r>
          </a:p>
        </p:txBody>
      </p:sp>
      <p:sp>
        <p:nvSpPr>
          <p:cNvPr name="TextBox 35" id="35"/>
          <p:cNvSpPr txBox="true"/>
          <p:nvPr/>
        </p:nvSpPr>
        <p:spPr>
          <a:xfrm rot="0">
            <a:off x="11299467" y="2871582"/>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papel</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925419" y="4170735"/>
            <a:ext cx="1995615" cy="2456141"/>
            <a:chOff x="0" y="0"/>
            <a:chExt cx="660400" cy="812800"/>
          </a:xfrm>
        </p:grpSpPr>
        <p:sp>
          <p:nvSpPr>
            <p:cNvPr name="Freeform 3" id="3"/>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4" id="4"/>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5" id="5"/>
          <p:cNvGrpSpPr/>
          <p:nvPr/>
        </p:nvGrpSpPr>
        <p:grpSpPr>
          <a:xfrm rot="0">
            <a:off x="8121914" y="4142160"/>
            <a:ext cx="1995615" cy="2456141"/>
            <a:chOff x="0" y="0"/>
            <a:chExt cx="660400" cy="812800"/>
          </a:xfrm>
        </p:grpSpPr>
        <p:sp>
          <p:nvSpPr>
            <p:cNvPr name="Freeform 6" id="6"/>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1FA9"/>
            </a:solidFill>
          </p:spPr>
        </p:sp>
        <p:sp>
          <p:nvSpPr>
            <p:cNvPr name="TextBox 7" id="7"/>
            <p:cNvSpPr txBox="true"/>
            <p:nvPr/>
          </p:nvSpPr>
          <p:spPr>
            <a:xfrm>
              <a:off x="0" y="88900"/>
              <a:ext cx="660400" cy="723900"/>
            </a:xfrm>
            <a:prstGeom prst="rect">
              <a:avLst/>
            </a:prstGeom>
          </p:spPr>
          <p:txBody>
            <a:bodyPr anchor="ctr" rtlCol="false" tIns="50800" lIns="50800" bIns="50800" rIns="50800"/>
            <a:lstStyle/>
            <a:p>
              <a:pPr algn="ctr">
                <a:lnSpc>
                  <a:spcPts val="2245"/>
                </a:lnSpc>
              </a:pPr>
            </a:p>
          </p:txBody>
        </p:sp>
      </p:grpSp>
      <p:grpSp>
        <p:nvGrpSpPr>
          <p:cNvPr name="Group 8" id="8"/>
          <p:cNvGrpSpPr/>
          <p:nvPr/>
        </p:nvGrpSpPr>
        <p:grpSpPr>
          <a:xfrm rot="0">
            <a:off x="10317554" y="4170735"/>
            <a:ext cx="1995615" cy="2456141"/>
            <a:chOff x="0" y="0"/>
            <a:chExt cx="660400" cy="812800"/>
          </a:xfrm>
        </p:grpSpPr>
        <p:sp>
          <p:nvSpPr>
            <p:cNvPr name="Freeform 9" id="9"/>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10" id="10"/>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11" id="11"/>
          <p:cNvGrpSpPr/>
          <p:nvPr/>
        </p:nvGrpSpPr>
        <p:grpSpPr>
          <a:xfrm rot="0">
            <a:off x="12514567" y="4170735"/>
            <a:ext cx="1995615" cy="2456141"/>
            <a:chOff x="0" y="0"/>
            <a:chExt cx="660400" cy="812800"/>
          </a:xfrm>
        </p:grpSpPr>
        <p:sp>
          <p:nvSpPr>
            <p:cNvPr name="Freeform 12" id="12"/>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1FA9"/>
            </a:solidFill>
          </p:spPr>
        </p:sp>
        <p:sp>
          <p:nvSpPr>
            <p:cNvPr name="TextBox 13" id="13"/>
            <p:cNvSpPr txBox="true"/>
            <p:nvPr/>
          </p:nvSpPr>
          <p:spPr>
            <a:xfrm>
              <a:off x="0" y="88900"/>
              <a:ext cx="660400" cy="723900"/>
            </a:xfrm>
            <a:prstGeom prst="rect">
              <a:avLst/>
            </a:prstGeom>
          </p:spPr>
          <p:txBody>
            <a:bodyPr anchor="ctr" rtlCol="false" tIns="50800" lIns="50800" bIns="50800" rIns="50800"/>
            <a:lstStyle/>
            <a:p>
              <a:pPr algn="ctr">
                <a:lnSpc>
                  <a:spcPts val="2245"/>
                </a:lnSpc>
              </a:pPr>
            </a:p>
          </p:txBody>
        </p:sp>
      </p:grpSp>
      <p:grpSp>
        <p:nvGrpSpPr>
          <p:cNvPr name="Group 14" id="14"/>
          <p:cNvGrpSpPr/>
          <p:nvPr/>
        </p:nvGrpSpPr>
        <p:grpSpPr>
          <a:xfrm rot="0">
            <a:off x="14715073" y="4227885"/>
            <a:ext cx="1995615" cy="2456141"/>
            <a:chOff x="0" y="0"/>
            <a:chExt cx="660400" cy="812800"/>
          </a:xfrm>
        </p:grpSpPr>
        <p:sp>
          <p:nvSpPr>
            <p:cNvPr name="Freeform 15" id="15"/>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FF1FA9"/>
            </a:solidFill>
          </p:spPr>
        </p:sp>
        <p:sp>
          <p:nvSpPr>
            <p:cNvPr name="TextBox 16" id="16"/>
            <p:cNvSpPr txBox="true"/>
            <p:nvPr/>
          </p:nvSpPr>
          <p:spPr>
            <a:xfrm>
              <a:off x="0" y="-38100"/>
              <a:ext cx="660400" cy="723900"/>
            </a:xfrm>
            <a:prstGeom prst="rect">
              <a:avLst/>
            </a:prstGeom>
          </p:spPr>
          <p:txBody>
            <a:bodyPr anchor="ctr" rtlCol="false" tIns="50800" lIns="50800" bIns="50800" rIns="50800"/>
            <a:lstStyle/>
            <a:p>
              <a:pPr algn="ctr">
                <a:lnSpc>
                  <a:spcPts val="2245"/>
                </a:lnSpc>
              </a:pPr>
            </a:p>
          </p:txBody>
        </p:sp>
      </p:grpSp>
      <p:grpSp>
        <p:nvGrpSpPr>
          <p:cNvPr name="Group 17" id="17"/>
          <p:cNvGrpSpPr/>
          <p:nvPr/>
        </p:nvGrpSpPr>
        <p:grpSpPr>
          <a:xfrm rot="0">
            <a:off x="6215230" y="7284101"/>
            <a:ext cx="10303302" cy="1543050"/>
            <a:chOff x="0" y="0"/>
            <a:chExt cx="2713627" cy="406400"/>
          </a:xfrm>
        </p:grpSpPr>
        <p:sp>
          <p:nvSpPr>
            <p:cNvPr name="Freeform 18" id="18"/>
            <p:cNvSpPr/>
            <p:nvPr/>
          </p:nvSpPr>
          <p:spPr>
            <a:xfrm flipH="false" flipV="false" rot="0">
              <a:off x="0" y="0"/>
              <a:ext cx="2713627" cy="406400"/>
            </a:xfrm>
            <a:custGeom>
              <a:avLst/>
              <a:gdLst/>
              <a:ahLst/>
              <a:cxnLst/>
              <a:rect r="r" b="b" t="t" l="l"/>
              <a:pathLst>
                <a:path h="406400" w="2713627">
                  <a:moveTo>
                    <a:pt x="2510427" y="0"/>
                  </a:moveTo>
                  <a:cubicBezTo>
                    <a:pt x="2622651" y="0"/>
                    <a:pt x="2713627" y="90976"/>
                    <a:pt x="2713627" y="203200"/>
                  </a:cubicBezTo>
                  <a:cubicBezTo>
                    <a:pt x="2713627" y="315424"/>
                    <a:pt x="2622651" y="406400"/>
                    <a:pt x="2510427" y="406400"/>
                  </a:cubicBezTo>
                  <a:lnTo>
                    <a:pt x="203200" y="406400"/>
                  </a:lnTo>
                  <a:cubicBezTo>
                    <a:pt x="90976" y="406400"/>
                    <a:pt x="0" y="315424"/>
                    <a:pt x="0" y="203200"/>
                  </a:cubicBezTo>
                  <a:cubicBezTo>
                    <a:pt x="0" y="90976"/>
                    <a:pt x="90976" y="0"/>
                    <a:pt x="203200" y="0"/>
                  </a:cubicBezTo>
                  <a:close/>
                </a:path>
              </a:pathLst>
            </a:custGeom>
            <a:solidFill>
              <a:srgbClr val="FF1FA9"/>
            </a:solidFill>
          </p:spPr>
        </p:sp>
        <p:sp>
          <p:nvSpPr>
            <p:cNvPr name="TextBox 19" id="19"/>
            <p:cNvSpPr txBox="true"/>
            <p:nvPr/>
          </p:nvSpPr>
          <p:spPr>
            <a:xfrm>
              <a:off x="0" y="-38100"/>
              <a:ext cx="2713627" cy="444500"/>
            </a:xfrm>
            <a:prstGeom prst="rect">
              <a:avLst/>
            </a:prstGeom>
          </p:spPr>
          <p:txBody>
            <a:bodyPr anchor="ctr" rtlCol="false" tIns="50800" lIns="50800" bIns="50800" rIns="50800"/>
            <a:lstStyle/>
            <a:p>
              <a:pPr algn="ctr">
                <a:lnSpc>
                  <a:spcPts val="2245"/>
                </a:lnSpc>
              </a:pPr>
            </a:p>
          </p:txBody>
        </p:sp>
      </p:grpSp>
      <p:sp>
        <p:nvSpPr>
          <p:cNvPr name="TextBox 20" id="20"/>
          <p:cNvSpPr txBox="true"/>
          <p:nvPr/>
        </p:nvSpPr>
        <p:spPr>
          <a:xfrm rot="0">
            <a:off x="1560558" y="2372181"/>
            <a:ext cx="6513055" cy="1479163"/>
          </a:xfrm>
          <a:prstGeom prst="rect">
            <a:avLst/>
          </a:prstGeom>
        </p:spPr>
        <p:txBody>
          <a:bodyPr anchor="t" rtlCol="false" tIns="0" lIns="0" bIns="0" rIns="0">
            <a:spAutoFit/>
          </a:bodyPr>
          <a:lstStyle/>
          <a:p>
            <a:pPr algn="l" marL="0" indent="0" lvl="0">
              <a:lnSpc>
                <a:spcPts val="11330"/>
              </a:lnSpc>
              <a:spcBef>
                <a:spcPct val="0"/>
              </a:spcBef>
            </a:pPr>
            <a:r>
              <a:rPr lang="en-US" sz="10689">
                <a:solidFill>
                  <a:srgbClr val="000000"/>
                </a:solidFill>
                <a:latin typeface="Antonio"/>
                <a:ea typeface="Antonio"/>
                <a:cs typeface="Antonio"/>
                <a:sym typeface="Antonio"/>
              </a:rPr>
              <a:t>METODOLOGÍA</a:t>
            </a:r>
          </a:p>
        </p:txBody>
      </p:sp>
      <p:sp>
        <p:nvSpPr>
          <p:cNvPr name="TextBox 21" id="21"/>
          <p:cNvSpPr txBox="true"/>
          <p:nvPr/>
        </p:nvSpPr>
        <p:spPr>
          <a:xfrm rot="0">
            <a:off x="9713180" y="7833632"/>
            <a:ext cx="3420818" cy="415414"/>
          </a:xfrm>
          <a:prstGeom prst="rect">
            <a:avLst/>
          </a:prstGeom>
        </p:spPr>
        <p:txBody>
          <a:bodyPr anchor="t" rtlCol="false" tIns="0" lIns="0" bIns="0" rIns="0">
            <a:spAutoFit/>
          </a:bodyPr>
          <a:lstStyle/>
          <a:p>
            <a:pPr algn="ctr">
              <a:lnSpc>
                <a:spcPts val="3302"/>
              </a:lnSpc>
            </a:pPr>
            <a:r>
              <a:rPr lang="en-US" sz="2540" b="true">
                <a:solidFill>
                  <a:srgbClr val="000000"/>
                </a:solidFill>
                <a:latin typeface="Antonio Bold"/>
                <a:ea typeface="Antonio Bold"/>
                <a:cs typeface="Antonio Bold"/>
                <a:sym typeface="Antonio Bold"/>
              </a:rPr>
              <a:t>Reto: Arte Instalación</a:t>
            </a:r>
          </a:p>
        </p:txBody>
      </p:sp>
      <p:sp>
        <p:nvSpPr>
          <p:cNvPr name="TextBox 22" id="22"/>
          <p:cNvSpPr txBox="true"/>
          <p:nvPr/>
        </p:nvSpPr>
        <p:spPr>
          <a:xfrm rot="0">
            <a:off x="6088924" y="4113585"/>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S1</a:t>
            </a:r>
          </a:p>
        </p:txBody>
      </p:sp>
      <p:sp>
        <p:nvSpPr>
          <p:cNvPr name="TextBox 23" id="23"/>
          <p:cNvSpPr txBox="true"/>
          <p:nvPr/>
        </p:nvSpPr>
        <p:spPr>
          <a:xfrm rot="0">
            <a:off x="6158523" y="4955667"/>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bidimensional</a:t>
            </a:r>
          </a:p>
        </p:txBody>
      </p:sp>
      <p:sp>
        <p:nvSpPr>
          <p:cNvPr name="TextBox 24" id="24"/>
          <p:cNvSpPr txBox="true"/>
          <p:nvPr/>
        </p:nvSpPr>
        <p:spPr>
          <a:xfrm rot="0">
            <a:off x="6434139" y="5632577"/>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papel</a:t>
            </a:r>
          </a:p>
        </p:txBody>
      </p:sp>
      <p:sp>
        <p:nvSpPr>
          <p:cNvPr name="TextBox 25" id="25"/>
          <p:cNvSpPr txBox="true"/>
          <p:nvPr/>
        </p:nvSpPr>
        <p:spPr>
          <a:xfrm rot="0">
            <a:off x="9716279" y="6240037"/>
            <a:ext cx="353625"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S2</a:t>
            </a:r>
          </a:p>
        </p:txBody>
      </p:sp>
      <p:sp>
        <p:nvSpPr>
          <p:cNvPr name="TextBox 26" id="26"/>
          <p:cNvSpPr txBox="true"/>
          <p:nvPr/>
        </p:nvSpPr>
        <p:spPr>
          <a:xfrm rot="0">
            <a:off x="10485334" y="4113585"/>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S3</a:t>
            </a:r>
          </a:p>
        </p:txBody>
      </p:sp>
      <p:sp>
        <p:nvSpPr>
          <p:cNvPr name="TextBox 27" id="27"/>
          <p:cNvSpPr txBox="true"/>
          <p:nvPr/>
        </p:nvSpPr>
        <p:spPr>
          <a:xfrm rot="0">
            <a:off x="14108932" y="6268612"/>
            <a:ext cx="353625"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S4</a:t>
            </a:r>
          </a:p>
        </p:txBody>
      </p:sp>
      <p:sp>
        <p:nvSpPr>
          <p:cNvPr name="TextBox 28" id="28"/>
          <p:cNvSpPr txBox="true"/>
          <p:nvPr/>
        </p:nvSpPr>
        <p:spPr>
          <a:xfrm rot="0">
            <a:off x="14882853" y="4170735"/>
            <a:ext cx="345214"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S5</a:t>
            </a:r>
          </a:p>
        </p:txBody>
      </p:sp>
      <p:sp>
        <p:nvSpPr>
          <p:cNvPr name="TextBox 29" id="29"/>
          <p:cNvSpPr txBox="true"/>
          <p:nvPr/>
        </p:nvSpPr>
        <p:spPr>
          <a:xfrm rot="0">
            <a:off x="8349140" y="4881140"/>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bidimensional</a:t>
            </a:r>
          </a:p>
        </p:txBody>
      </p:sp>
      <p:sp>
        <p:nvSpPr>
          <p:cNvPr name="TextBox 30" id="30"/>
          <p:cNvSpPr txBox="true"/>
          <p:nvPr/>
        </p:nvSpPr>
        <p:spPr>
          <a:xfrm rot="0">
            <a:off x="8624756" y="5558050"/>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batería</a:t>
            </a:r>
          </a:p>
        </p:txBody>
      </p:sp>
      <p:sp>
        <p:nvSpPr>
          <p:cNvPr name="TextBox 31" id="31"/>
          <p:cNvSpPr txBox="true"/>
          <p:nvPr/>
        </p:nvSpPr>
        <p:spPr>
          <a:xfrm rot="0">
            <a:off x="10546154" y="4909715"/>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tridimensional</a:t>
            </a:r>
          </a:p>
        </p:txBody>
      </p:sp>
      <p:sp>
        <p:nvSpPr>
          <p:cNvPr name="TextBox 32" id="32"/>
          <p:cNvSpPr txBox="true"/>
          <p:nvPr/>
        </p:nvSpPr>
        <p:spPr>
          <a:xfrm rot="0">
            <a:off x="10821770" y="5586625"/>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PLANO</a:t>
            </a:r>
          </a:p>
        </p:txBody>
      </p:sp>
      <p:sp>
        <p:nvSpPr>
          <p:cNvPr name="TextBox 33" id="33"/>
          <p:cNvSpPr txBox="true"/>
          <p:nvPr/>
        </p:nvSpPr>
        <p:spPr>
          <a:xfrm rot="0">
            <a:off x="10830548" y="5750319"/>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estireno</a:t>
            </a:r>
          </a:p>
        </p:txBody>
      </p:sp>
      <p:sp>
        <p:nvSpPr>
          <p:cNvPr name="TextBox 34" id="34"/>
          <p:cNvSpPr txBox="true"/>
          <p:nvPr/>
        </p:nvSpPr>
        <p:spPr>
          <a:xfrm rot="0">
            <a:off x="12735015" y="4909715"/>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tridimensional</a:t>
            </a:r>
          </a:p>
        </p:txBody>
      </p:sp>
      <p:sp>
        <p:nvSpPr>
          <p:cNvPr name="TextBox 35" id="35"/>
          <p:cNvSpPr txBox="true"/>
          <p:nvPr/>
        </p:nvSpPr>
        <p:spPr>
          <a:xfrm rot="0">
            <a:off x="13010631" y="5586625"/>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VOLUMEN</a:t>
            </a:r>
          </a:p>
        </p:txBody>
      </p:sp>
      <p:sp>
        <p:nvSpPr>
          <p:cNvPr name="TextBox 36" id="36"/>
          <p:cNvSpPr txBox="true"/>
          <p:nvPr/>
        </p:nvSpPr>
        <p:spPr>
          <a:xfrm rot="0">
            <a:off x="13019410" y="5750319"/>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madera </a:t>
            </a:r>
          </a:p>
        </p:txBody>
      </p:sp>
      <p:sp>
        <p:nvSpPr>
          <p:cNvPr name="TextBox 37" id="37"/>
          <p:cNvSpPr txBox="true"/>
          <p:nvPr/>
        </p:nvSpPr>
        <p:spPr>
          <a:xfrm rot="0">
            <a:off x="13019410" y="5941906"/>
            <a:ext cx="1090223" cy="273584"/>
          </a:xfrm>
          <a:prstGeom prst="rect">
            <a:avLst/>
          </a:prstGeom>
        </p:spPr>
        <p:txBody>
          <a:bodyPr anchor="t" rtlCol="false" tIns="0" lIns="0" bIns="0" rIns="0">
            <a:spAutoFit/>
          </a:bodyPr>
          <a:lstStyle/>
          <a:p>
            <a:pPr algn="ctr" marL="0" indent="0" lvl="0">
              <a:lnSpc>
                <a:spcPts val="2245"/>
              </a:lnSpc>
              <a:spcBef>
                <a:spcPct val="0"/>
              </a:spcBef>
            </a:pPr>
            <a:r>
              <a:rPr lang="en-US" sz="1603" spc="32">
                <a:solidFill>
                  <a:srgbClr val="000000"/>
                </a:solidFill>
                <a:latin typeface="Raleway"/>
                <a:ea typeface="Raleway"/>
                <a:cs typeface="Raleway"/>
                <a:sym typeface="Raleway"/>
              </a:rPr>
              <a:t>balsa</a:t>
            </a:r>
          </a:p>
        </p:txBody>
      </p:sp>
      <p:sp>
        <p:nvSpPr>
          <p:cNvPr name="TextBox 38" id="38"/>
          <p:cNvSpPr txBox="true"/>
          <p:nvPr/>
        </p:nvSpPr>
        <p:spPr>
          <a:xfrm rot="0">
            <a:off x="14882853" y="4885549"/>
            <a:ext cx="1844588" cy="715010"/>
          </a:xfrm>
          <a:prstGeom prst="rect">
            <a:avLst/>
          </a:prstGeom>
        </p:spPr>
        <p:txBody>
          <a:bodyPr anchor="t" rtlCol="false" tIns="0" lIns="0" bIns="0" rIns="0">
            <a:spAutoFit/>
          </a:bodyPr>
          <a:lstStyle/>
          <a:p>
            <a:pPr algn="just" marL="0" indent="0" lvl="0">
              <a:lnSpc>
                <a:spcPts val="2859"/>
              </a:lnSpc>
              <a:spcBef>
                <a:spcPct val="0"/>
              </a:spcBef>
            </a:pPr>
            <a:r>
              <a:rPr lang="en-US" b="true" sz="2199" strike="noStrike" u="none">
                <a:solidFill>
                  <a:srgbClr val="000000"/>
                </a:solidFill>
                <a:latin typeface="Antonio Bold"/>
                <a:ea typeface="Antonio Bold"/>
                <a:cs typeface="Antonio Bold"/>
                <a:sym typeface="Antonio Bold"/>
              </a:rPr>
              <a:t>Trabajo integrador</a:t>
            </a:r>
          </a:p>
        </p:txBody>
      </p:sp>
      <p:sp>
        <p:nvSpPr>
          <p:cNvPr name="TextBox 39" id="39"/>
          <p:cNvSpPr txBox="true"/>
          <p:nvPr/>
        </p:nvSpPr>
        <p:spPr>
          <a:xfrm rot="0">
            <a:off x="15172983" y="8459362"/>
            <a:ext cx="880017" cy="415414"/>
          </a:xfrm>
          <a:prstGeom prst="rect">
            <a:avLst/>
          </a:prstGeom>
        </p:spPr>
        <p:txBody>
          <a:bodyPr anchor="t" rtlCol="false" tIns="0" lIns="0" bIns="0" rIns="0">
            <a:spAutoFit/>
          </a:bodyPr>
          <a:lstStyle/>
          <a:p>
            <a:pPr algn="l" marL="0" indent="0" lvl="0">
              <a:lnSpc>
                <a:spcPts val="3302"/>
              </a:lnSpc>
              <a:spcBef>
                <a:spcPct val="0"/>
              </a:spcBef>
            </a:pPr>
            <a:r>
              <a:rPr lang="en-US" b="true" sz="2540" strike="noStrike" u="none">
                <a:solidFill>
                  <a:srgbClr val="000000"/>
                </a:solidFill>
                <a:latin typeface="Antonio Bold"/>
                <a:ea typeface="Antonio Bold"/>
                <a:cs typeface="Antonio Bold"/>
                <a:sym typeface="Antonio Bold"/>
              </a:rPr>
              <a:t>S7-S11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549435" y="2162631"/>
            <a:ext cx="6513055" cy="307012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congue ante. Phasellus sodales tristique semper. Nullam viverra.</a:t>
            </a:r>
          </a:p>
        </p:txBody>
      </p:sp>
      <p:sp>
        <p:nvSpPr>
          <p:cNvPr name="TextBox 3" id="3"/>
          <p:cNvSpPr txBox="true"/>
          <p:nvPr/>
        </p:nvSpPr>
        <p:spPr>
          <a:xfrm rot="0">
            <a:off x="9549435" y="5643738"/>
            <a:ext cx="6513055" cy="1317525"/>
          </a:xfrm>
          <a:prstGeom prst="rect">
            <a:avLst/>
          </a:prstGeom>
        </p:spPr>
        <p:txBody>
          <a:bodyPr anchor="t" rtlCol="false" tIns="0" lIns="0" bIns="0" rIns="0">
            <a:spAutoFit/>
          </a:bodyPr>
          <a:lstStyle/>
          <a:p>
            <a:pPr algn="l" marL="0" indent="0" lvl="0">
              <a:lnSpc>
                <a:spcPts val="3505"/>
              </a:lnSpc>
              <a:spcBef>
                <a:spcPct val="0"/>
              </a:spcBef>
            </a:pPr>
            <a:r>
              <a:rPr lang="en-US" b="true" sz="2503" i="true" spc="50" strike="noStrike" u="none">
                <a:solidFill>
                  <a:srgbClr val="000000"/>
                </a:solidFill>
                <a:latin typeface="Raleway Bold Italics"/>
                <a:ea typeface="Raleway Bold Italics"/>
                <a:cs typeface="Raleway Bold Italics"/>
                <a:sym typeface="Raleway Bold Italics"/>
              </a:rPr>
              <a:t>Duis lorem dolor, consequat sed mi quis, efficitur facilisis ex. Sed accumsan diam at ipsum fringilla mollis. </a:t>
            </a:r>
          </a:p>
        </p:txBody>
      </p:sp>
      <p:grpSp>
        <p:nvGrpSpPr>
          <p:cNvPr name="Group 4" id="4"/>
          <p:cNvGrpSpPr/>
          <p:nvPr/>
        </p:nvGrpSpPr>
        <p:grpSpPr>
          <a:xfrm rot="0">
            <a:off x="0" y="-89256"/>
            <a:ext cx="8214051" cy="5143500"/>
            <a:chOff x="0" y="0"/>
            <a:chExt cx="1272571" cy="796863"/>
          </a:xfrm>
        </p:grpSpPr>
        <p:sp>
          <p:nvSpPr>
            <p:cNvPr name="Freeform 5" id="5"/>
            <p:cNvSpPr/>
            <p:nvPr/>
          </p:nvSpPr>
          <p:spPr>
            <a:xfrm flipH="false" flipV="false" rot="0">
              <a:off x="0" y="0"/>
              <a:ext cx="1272571" cy="796863"/>
            </a:xfrm>
            <a:custGeom>
              <a:avLst/>
              <a:gdLst/>
              <a:ahLst/>
              <a:cxnLst/>
              <a:rect r="r" b="b" t="t" l="l"/>
              <a:pathLst>
                <a:path h="796863" w="1272571">
                  <a:moveTo>
                    <a:pt x="0" y="0"/>
                  </a:moveTo>
                  <a:lnTo>
                    <a:pt x="1272571" y="0"/>
                  </a:lnTo>
                  <a:lnTo>
                    <a:pt x="1272571" y="796863"/>
                  </a:lnTo>
                  <a:lnTo>
                    <a:pt x="0" y="796863"/>
                  </a:lnTo>
                  <a:close/>
                </a:path>
              </a:pathLst>
            </a:custGeom>
            <a:blipFill>
              <a:blip r:embed="rId2"/>
              <a:stretch>
                <a:fillRect l="0" t="-3249" r="0" b="-3249"/>
              </a:stretch>
            </a:blipFill>
          </p:spPr>
        </p:sp>
      </p:grpSp>
      <p:grpSp>
        <p:nvGrpSpPr>
          <p:cNvPr name="Group 6" id="6"/>
          <p:cNvGrpSpPr/>
          <p:nvPr/>
        </p:nvGrpSpPr>
        <p:grpSpPr>
          <a:xfrm rot="0">
            <a:off x="0" y="5143500"/>
            <a:ext cx="8214051" cy="5143500"/>
            <a:chOff x="0" y="0"/>
            <a:chExt cx="1272571" cy="796863"/>
          </a:xfrm>
        </p:grpSpPr>
        <p:sp>
          <p:nvSpPr>
            <p:cNvPr name="Freeform 7" id="7"/>
            <p:cNvSpPr/>
            <p:nvPr/>
          </p:nvSpPr>
          <p:spPr>
            <a:xfrm flipH="false" flipV="false" rot="0">
              <a:off x="0" y="0"/>
              <a:ext cx="1272571" cy="796863"/>
            </a:xfrm>
            <a:custGeom>
              <a:avLst/>
              <a:gdLst/>
              <a:ahLst/>
              <a:cxnLst/>
              <a:rect r="r" b="b" t="t" l="l"/>
              <a:pathLst>
                <a:path h="796863" w="1272571">
                  <a:moveTo>
                    <a:pt x="0" y="0"/>
                  </a:moveTo>
                  <a:lnTo>
                    <a:pt x="1272571" y="0"/>
                  </a:lnTo>
                  <a:lnTo>
                    <a:pt x="1272571" y="796863"/>
                  </a:lnTo>
                  <a:lnTo>
                    <a:pt x="0" y="796863"/>
                  </a:lnTo>
                  <a:close/>
                </a:path>
              </a:pathLst>
            </a:custGeom>
            <a:blipFill>
              <a:blip r:embed="rId3"/>
              <a:stretch>
                <a:fillRect l="0" t="-3299" r="0" b="-3299"/>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25510" y="2162631"/>
            <a:ext cx="10153012" cy="307012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congue ante. Phasellus sodales tristique semper. Nullam viverra, tortor a placerat dignissim, turpis turpis ultrices eros, vel tristique justo dui a turpis. Aenean vitae tellus eleifend, sodales nisi ut, pellentesque mi. Aenean pretium magna nec sollicitudin cursus. </a:t>
            </a:r>
          </a:p>
        </p:txBody>
      </p:sp>
      <p:sp>
        <p:nvSpPr>
          <p:cNvPr name="TextBox 3" id="3"/>
          <p:cNvSpPr txBox="true"/>
          <p:nvPr/>
        </p:nvSpPr>
        <p:spPr>
          <a:xfrm rot="0">
            <a:off x="2225510" y="5777505"/>
            <a:ext cx="10153012" cy="1755675"/>
          </a:xfrm>
          <a:prstGeom prst="rect">
            <a:avLst/>
          </a:prstGeom>
        </p:spPr>
        <p:txBody>
          <a:bodyPr anchor="t" rtlCol="false" tIns="0" lIns="0" bIns="0" rIns="0">
            <a:spAutoFit/>
          </a:bodyPr>
          <a:lstStyle/>
          <a:p>
            <a:pPr algn="l" marL="0" indent="0" lvl="0">
              <a:lnSpc>
                <a:spcPts val="3505"/>
              </a:lnSpc>
              <a:spcBef>
                <a:spcPct val="0"/>
              </a:spcBef>
            </a:pPr>
            <a:r>
              <a:rPr lang="en-US" b="true" sz="2503" i="true" spc="50" strike="noStrike" u="none">
                <a:solidFill>
                  <a:srgbClr val="000000"/>
                </a:solidFill>
                <a:latin typeface="Raleway Bold Italics"/>
                <a:ea typeface="Raleway Bold Italics"/>
                <a:cs typeface="Raleway Bold Italics"/>
                <a:sym typeface="Raleway Bold Italics"/>
              </a:rPr>
              <a:t>Lorem ipsum dolor sit amet, consectetur adipiscing elit. Ut sit amet vestibulum ex. Morbi viverra nisi eros, sed ornare turpis sodales id. Vestibulum et ante accumsan, elementum ante sed, congue ante. Phasellus sodales tristique semper. </a:t>
            </a:r>
          </a:p>
        </p:txBody>
      </p:sp>
      <p:grpSp>
        <p:nvGrpSpPr>
          <p:cNvPr name="Group 4" id="4"/>
          <p:cNvGrpSpPr/>
          <p:nvPr/>
        </p:nvGrpSpPr>
        <p:grpSpPr>
          <a:xfrm rot="0">
            <a:off x="13407963" y="0"/>
            <a:ext cx="4880037" cy="10287000"/>
            <a:chOff x="0" y="0"/>
            <a:chExt cx="756045" cy="1593725"/>
          </a:xfrm>
        </p:grpSpPr>
        <p:sp>
          <p:nvSpPr>
            <p:cNvPr name="Freeform 5" id="5"/>
            <p:cNvSpPr/>
            <p:nvPr/>
          </p:nvSpPr>
          <p:spPr>
            <a:xfrm flipH="false" flipV="false" rot="0">
              <a:off x="0" y="0"/>
              <a:ext cx="756045" cy="1593725"/>
            </a:xfrm>
            <a:custGeom>
              <a:avLst/>
              <a:gdLst/>
              <a:ahLst/>
              <a:cxnLst/>
              <a:rect r="r" b="b" t="t" l="l"/>
              <a:pathLst>
                <a:path h="1593725" w="756045">
                  <a:moveTo>
                    <a:pt x="0" y="0"/>
                  </a:moveTo>
                  <a:lnTo>
                    <a:pt x="756045" y="0"/>
                  </a:lnTo>
                  <a:lnTo>
                    <a:pt x="756045" y="1593725"/>
                  </a:lnTo>
                  <a:lnTo>
                    <a:pt x="0" y="1593725"/>
                  </a:lnTo>
                  <a:close/>
                </a:path>
              </a:pathLst>
            </a:custGeom>
            <a:blipFill>
              <a:blip r:embed="rId2"/>
              <a:stretch>
                <a:fillRect l="-27665" t="0" r="-27665"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539" y="-177800"/>
            <a:ext cx="9648672"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strike="noStrike" u="none">
                <a:solidFill>
                  <a:srgbClr val="000000"/>
                </a:solidFill>
                <a:latin typeface="Antonio Ultra-Bold"/>
                <a:ea typeface="Antonio Ultra-Bold"/>
                <a:cs typeface="Antonio Ultra-Bold"/>
                <a:sym typeface="Antonio Ultra-Bold"/>
              </a:rPr>
              <a:t>DATOS</a:t>
            </a:r>
          </a:p>
        </p:txBody>
      </p:sp>
      <p:pic>
        <p:nvPicPr>
          <p:cNvPr name="Picture 3" id="3"/>
          <p:cNvPicPr>
            <a:picLocks noChangeAspect="true"/>
          </p:cNvPicPr>
          <p:nvPr/>
        </p:nvPicPr>
        <p:blipFill>
          <a:blip r:embed="rId2"/>
          <a:stretch>
            <a:fillRect/>
          </a:stretch>
        </p:blipFill>
        <p:spPr>
          <a:xfrm rot="0">
            <a:off x="1610148" y="3741591"/>
            <a:ext cx="7384340" cy="3239760"/>
          </a:xfrm>
          <a:prstGeom prst="rect">
            <a:avLst/>
          </a:prstGeom>
        </p:spPr>
      </p:pic>
      <p:sp>
        <p:nvSpPr>
          <p:cNvPr name="TextBox 4" id="4"/>
          <p:cNvSpPr txBox="true"/>
          <p:nvPr/>
        </p:nvSpPr>
        <p:spPr>
          <a:xfrm rot="0">
            <a:off x="9549435" y="4244775"/>
            <a:ext cx="6513055" cy="219382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a:t>
            </a:r>
          </a:p>
        </p:txBody>
      </p:sp>
      <p:sp>
        <p:nvSpPr>
          <p:cNvPr name="TextBox 5" id="5"/>
          <p:cNvSpPr txBox="true"/>
          <p:nvPr/>
        </p:nvSpPr>
        <p:spPr>
          <a:xfrm rot="0">
            <a:off x="1028700" y="89999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6" id="6"/>
          <p:cNvSpPr txBox="true"/>
          <p:nvPr/>
        </p:nvSpPr>
        <p:spPr>
          <a:xfrm rot="0">
            <a:off x="14213859" y="89999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3729" y="8051800"/>
            <a:ext cx="14992588"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strike="noStrike" u="none">
                <a:solidFill>
                  <a:srgbClr val="000000"/>
                </a:solidFill>
                <a:latin typeface="Antonio Ultra-Bold"/>
                <a:ea typeface="Antonio Ultra-Bold"/>
                <a:cs typeface="Antonio Ultra-Bold"/>
                <a:sym typeface="Antonio Ultra-Bold"/>
              </a:rPr>
              <a:t>RESULTADOS</a:t>
            </a:r>
          </a:p>
        </p:txBody>
      </p:sp>
      <p:sp>
        <p:nvSpPr>
          <p:cNvPr name="TextBox 3" id="3"/>
          <p:cNvSpPr txBox="true"/>
          <p:nvPr/>
        </p:nvSpPr>
        <p:spPr>
          <a:xfrm rot="0">
            <a:off x="2225510" y="2162631"/>
            <a:ext cx="6513055" cy="438457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congue ante. Phasellus sodales tristique semper. Nullam viverra, tortor a placerat dignissim, turpis turpis ultrices eros, vel tristique justo dui a turpis. Aenean vitae tellus eleifend, sodales nisi ut, pellentesque mi.</a:t>
            </a:r>
          </a:p>
        </p:txBody>
      </p:sp>
      <p:sp>
        <p:nvSpPr>
          <p:cNvPr name="TextBox 4" id="4"/>
          <p:cNvSpPr txBox="true"/>
          <p:nvPr/>
        </p:nvSpPr>
        <p:spPr>
          <a:xfrm rot="0">
            <a:off x="9549435" y="2162631"/>
            <a:ext cx="6513055" cy="438457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Ut sit amet vestibulum ex. Morbi viverra nisi eros, sed ornare turpis sodales id. Vestibulum et ante accumsan, elementum ante sed, congue ante. Phasellus sodales tristique semper. Nullam viverra, tortor a placerat dignissim, turpis turpis ultrices eros, vel tristique justo dui a turpis. Aenean vitae tellus eleifend, sodales nisi ut, pellentesque mi. Aenean pretium magna nec sollicitudin cursus. </a:t>
            </a:r>
          </a:p>
        </p:txBody>
      </p:sp>
      <p:sp>
        <p:nvSpPr>
          <p:cNvPr name="TextBox 5" id="5"/>
          <p:cNvSpPr txBox="true"/>
          <p:nvPr/>
        </p:nvSpPr>
        <p:spPr>
          <a:xfrm rot="0">
            <a:off x="1028700" y="7703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6" id="6"/>
          <p:cNvSpPr txBox="true"/>
          <p:nvPr/>
        </p:nvSpPr>
        <p:spPr>
          <a:xfrm rot="0">
            <a:off x="14213859" y="7703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051800"/>
            <a:ext cx="14801734"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strike="noStrike" u="none">
                <a:solidFill>
                  <a:srgbClr val="000000"/>
                </a:solidFill>
                <a:latin typeface="Antonio Ultra-Bold"/>
                <a:ea typeface="Antonio Ultra-Bold"/>
                <a:cs typeface="Antonio Ultra-Bold"/>
                <a:sym typeface="Antonio Ultra-Bold"/>
              </a:rPr>
              <a:t>CONCLUSIÓN</a:t>
            </a:r>
          </a:p>
        </p:txBody>
      </p:sp>
      <p:sp>
        <p:nvSpPr>
          <p:cNvPr name="TextBox 3" id="3"/>
          <p:cNvSpPr txBox="true"/>
          <p:nvPr/>
        </p:nvSpPr>
        <p:spPr>
          <a:xfrm rot="0">
            <a:off x="2225510" y="2162631"/>
            <a:ext cx="13836979" cy="2631975"/>
          </a:xfrm>
          <a:prstGeom prst="rect">
            <a:avLst/>
          </a:prstGeom>
        </p:spPr>
        <p:txBody>
          <a:bodyPr anchor="t" rtlCol="false" tIns="0" lIns="0" bIns="0" rIns="0">
            <a:spAutoFit/>
          </a:bodyPr>
          <a:lstStyle/>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Lorem ipsum dolor sit amet, consectetur adipiscing elit. Ut sit amet vestibulum ex. Morbi viverra nisi eros, sed ornare turpis sodales id. Vestibulum et ante accumsan, elementum ante sed, Morbi viverra nisi eros, sed ornare turpis sodales id.</a:t>
            </a:r>
          </a:p>
          <a:p>
            <a:pPr algn="l" marL="0" indent="0" lvl="0">
              <a:lnSpc>
                <a:spcPts val="3505"/>
              </a:lnSpc>
              <a:spcBef>
                <a:spcPct val="0"/>
              </a:spcBef>
            </a:pPr>
          </a:p>
          <a:p>
            <a:pPr algn="l" marL="0" indent="0" lvl="0">
              <a:lnSpc>
                <a:spcPts val="3505"/>
              </a:lnSpc>
              <a:spcBef>
                <a:spcPct val="0"/>
              </a:spcBef>
            </a:pPr>
            <a:r>
              <a:rPr lang="en-US" sz="2503" spc="50" strike="noStrike" u="none">
                <a:solidFill>
                  <a:srgbClr val="000000"/>
                </a:solidFill>
                <a:latin typeface="Raleway"/>
                <a:ea typeface="Raleway"/>
                <a:cs typeface="Raleway"/>
                <a:sym typeface="Raleway"/>
              </a:rPr>
              <a:t>Ut sit amet vestibulum ex. Morbi viverra nisi eros, sed ornare turpis sodales id. Vestibulum et ante accumsan, elementum ante sed, congue ante.</a:t>
            </a:r>
          </a:p>
        </p:txBody>
      </p:sp>
      <p:sp>
        <p:nvSpPr>
          <p:cNvPr name="TextBox 4" id="4"/>
          <p:cNvSpPr txBox="true"/>
          <p:nvPr/>
        </p:nvSpPr>
        <p:spPr>
          <a:xfrm rot="0">
            <a:off x="2225510" y="5218040"/>
            <a:ext cx="13836979" cy="879375"/>
          </a:xfrm>
          <a:prstGeom prst="rect">
            <a:avLst/>
          </a:prstGeom>
        </p:spPr>
        <p:txBody>
          <a:bodyPr anchor="t" rtlCol="false" tIns="0" lIns="0" bIns="0" rIns="0">
            <a:spAutoFit/>
          </a:bodyPr>
          <a:lstStyle/>
          <a:p>
            <a:pPr algn="l" marL="0" indent="0" lvl="0">
              <a:lnSpc>
                <a:spcPts val="3505"/>
              </a:lnSpc>
              <a:spcBef>
                <a:spcPct val="0"/>
              </a:spcBef>
            </a:pPr>
            <a:r>
              <a:rPr lang="en-US" b="true" sz="2503" i="true" spc="50">
                <a:solidFill>
                  <a:srgbClr val="000000"/>
                </a:solidFill>
                <a:latin typeface="Raleway Bold Italics"/>
                <a:ea typeface="Raleway Bold Italics"/>
                <a:cs typeface="Raleway Bold Italics"/>
                <a:sym typeface="Raleway Bold Italics"/>
              </a:rPr>
              <a:t>Phasellus sodales tristique semper. Nullam viverra, tortor a placerat dignissim, turpis turpis ultrices eros, vel tristique justo dui a turpis.</a:t>
            </a:r>
          </a:p>
        </p:txBody>
      </p:sp>
      <p:sp>
        <p:nvSpPr>
          <p:cNvPr name="TextBox 5" id="5"/>
          <p:cNvSpPr txBox="true"/>
          <p:nvPr/>
        </p:nvSpPr>
        <p:spPr>
          <a:xfrm rot="0">
            <a:off x="1028700" y="7703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6" id="6"/>
          <p:cNvSpPr txBox="true"/>
          <p:nvPr/>
        </p:nvSpPr>
        <p:spPr>
          <a:xfrm rot="0">
            <a:off x="14213859" y="7703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25510" y="6420610"/>
            <a:ext cx="6173481" cy="1637085"/>
          </a:xfrm>
          <a:prstGeom prst="rect">
            <a:avLst/>
          </a:prstGeom>
        </p:spPr>
        <p:txBody>
          <a:bodyPr anchor="t" rtlCol="false" tIns="0" lIns="0" bIns="0" rIns="0">
            <a:spAutoFit/>
          </a:bodyPr>
          <a:lstStyle/>
          <a:p>
            <a:pPr algn="l">
              <a:lnSpc>
                <a:spcPts val="2641"/>
              </a:lnSpc>
            </a:pPr>
            <a:r>
              <a:rPr lang="en-US" sz="2032">
                <a:solidFill>
                  <a:srgbClr val="000000"/>
                </a:solidFill>
                <a:latin typeface="Antonio"/>
                <a:ea typeface="Antonio"/>
                <a:cs typeface="Antonio"/>
                <a:sym typeface="Antonio"/>
              </a:rPr>
              <a:t>Elige entre una amplia variedad de elementos de Canva para darle un toque único a tu presentación.</a:t>
            </a:r>
          </a:p>
          <a:p>
            <a:pPr algn="l">
              <a:lnSpc>
                <a:spcPts val="2641"/>
              </a:lnSpc>
            </a:pPr>
          </a:p>
          <a:p>
            <a:pPr algn="l">
              <a:lnSpc>
                <a:spcPts val="2641"/>
              </a:lnSpc>
            </a:pPr>
            <a:r>
              <a:rPr lang="en-US" sz="2032">
                <a:solidFill>
                  <a:srgbClr val="000000"/>
                </a:solidFill>
                <a:latin typeface="Antonio"/>
                <a:ea typeface="Antonio"/>
                <a:cs typeface="Antonio"/>
                <a:sym typeface="Antonio"/>
              </a:rPr>
              <a:t>Recuerda eliminar esta página antes de presentarla.</a:t>
            </a:r>
          </a:p>
          <a:p>
            <a:pPr algn="l">
              <a:lnSpc>
                <a:spcPts val="2641"/>
              </a:lnSpc>
            </a:pPr>
            <a:r>
              <a:rPr lang="en-US" sz="2032">
                <a:solidFill>
                  <a:srgbClr val="000000"/>
                </a:solidFill>
                <a:latin typeface="Antonio"/>
                <a:ea typeface="Antonio"/>
                <a:cs typeface="Antonio"/>
                <a:sym typeface="Antonio"/>
              </a:rPr>
              <a:t>¡Logra una comunicación efectiva!</a:t>
            </a:r>
          </a:p>
        </p:txBody>
      </p:sp>
      <p:sp>
        <p:nvSpPr>
          <p:cNvPr name="TextBox 3" id="3"/>
          <p:cNvSpPr txBox="true"/>
          <p:nvPr/>
        </p:nvSpPr>
        <p:spPr>
          <a:xfrm rot="0">
            <a:off x="2225510" y="5701775"/>
            <a:ext cx="6173481" cy="407640"/>
          </a:xfrm>
          <a:prstGeom prst="rect">
            <a:avLst/>
          </a:prstGeom>
        </p:spPr>
        <p:txBody>
          <a:bodyPr anchor="t" rtlCol="false" tIns="0" lIns="0" bIns="0" rIns="0">
            <a:spAutoFit/>
          </a:bodyPr>
          <a:lstStyle/>
          <a:p>
            <a:pPr algn="l">
              <a:lnSpc>
                <a:spcPts val="3302"/>
              </a:lnSpc>
            </a:pPr>
            <a:r>
              <a:rPr lang="en-US" sz="2540" b="true">
                <a:solidFill>
                  <a:srgbClr val="000000"/>
                </a:solidFill>
                <a:latin typeface="Antonio Bold"/>
                <a:ea typeface="Antonio Bold"/>
                <a:cs typeface="Antonio Bold"/>
                <a:sym typeface="Antonio Bold"/>
              </a:rPr>
              <a:t>Personaliza tu presentación al máximo.</a:t>
            </a:r>
          </a:p>
        </p:txBody>
      </p:sp>
      <p:graphicFrame>
        <p:nvGraphicFramePr>
          <p:cNvPr name="Table 4" id="4"/>
          <p:cNvGraphicFramePr>
            <a:graphicFrameLocks noGrp="true"/>
          </p:cNvGraphicFramePr>
          <p:nvPr/>
        </p:nvGraphicFramePr>
        <p:xfrm>
          <a:off x="9144000" y="2229306"/>
          <a:ext cx="7241267" cy="5828388"/>
        </p:xfrm>
        <a:graphic>
          <a:graphicData uri="http://schemas.openxmlformats.org/drawingml/2006/table">
            <a:tbl>
              <a:tblPr/>
              <a:tblGrid>
                <a:gridCol w="3411339"/>
                <a:gridCol w="3829928"/>
              </a:tblGrid>
              <a:tr h="1057021">
                <a:tc>
                  <a:txBody>
                    <a:bodyPr anchor="t" rtlCol="false"/>
                    <a:lstStyle/>
                    <a:p>
                      <a:pPr algn="ctr">
                        <a:lnSpc>
                          <a:spcPts val="3640"/>
                        </a:lnSpc>
                        <a:defRPr/>
                      </a:pPr>
                      <a:r>
                        <a:rPr lang="en-US" sz="2600">
                          <a:solidFill>
                            <a:srgbClr val="000000"/>
                          </a:solidFill>
                          <a:latin typeface="Antonio"/>
                          <a:ea typeface="Antonio"/>
                          <a:cs typeface="Antonio"/>
                          <a:sym typeface="Antonio"/>
                        </a:rPr>
                        <a:t>B para desenfoque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000000"/>
                          </a:solidFill>
                          <a:latin typeface="Antonio"/>
                          <a:ea typeface="Antonio"/>
                          <a:cs typeface="Antonio"/>
                          <a:sym typeface="Antonio"/>
                        </a:rPr>
                        <a:t>C para confeti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591294">
                <a:tc>
                  <a:txBody>
                    <a:bodyPr anchor="t" rtlCol="false"/>
                    <a:lstStyle/>
                    <a:p>
                      <a:pPr algn="ctr">
                        <a:lnSpc>
                          <a:spcPts val="3640"/>
                        </a:lnSpc>
                        <a:defRPr/>
                      </a:pPr>
                      <a:r>
                        <a:rPr lang="en-US" sz="2600">
                          <a:solidFill>
                            <a:srgbClr val="000000"/>
                          </a:solidFill>
                          <a:latin typeface="Antonio"/>
                          <a:ea typeface="Antonio"/>
                          <a:cs typeface="Antonio"/>
                          <a:sym typeface="Antonio"/>
                        </a:rPr>
                        <a:t>D para un redoble de tambores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000000"/>
                          </a:solidFill>
                          <a:latin typeface="Antonio"/>
                          <a:ea typeface="Antonio"/>
                          <a:cs typeface="Antonio"/>
                          <a:sym typeface="Antonio"/>
                        </a:rPr>
                        <a:t>M para caída de micrófono</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055763">
                <a:tc>
                  <a:txBody>
                    <a:bodyPr anchor="t" rtlCol="false"/>
                    <a:lstStyle/>
                    <a:p>
                      <a:pPr algn="ctr">
                        <a:lnSpc>
                          <a:spcPts val="3640"/>
                        </a:lnSpc>
                        <a:defRPr/>
                      </a:pPr>
                      <a:r>
                        <a:rPr lang="en-US" sz="2600">
                          <a:solidFill>
                            <a:srgbClr val="000000"/>
                          </a:solidFill>
                          <a:latin typeface="Antonio"/>
                          <a:ea typeface="Antonio"/>
                          <a:cs typeface="Antonio"/>
                          <a:sym typeface="Antonio"/>
                        </a:rPr>
                        <a:t>O de burbujas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000000"/>
                          </a:solidFill>
                          <a:latin typeface="Antonio"/>
                          <a:ea typeface="Antonio"/>
                          <a:cs typeface="Antonio"/>
                          <a:sym typeface="Antonio"/>
                        </a:rPr>
                        <a:t>Q de silencio</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2124310">
                <a:tc>
                  <a:txBody>
                    <a:bodyPr anchor="t" rtlCol="false"/>
                    <a:lstStyle/>
                    <a:p>
                      <a:pPr algn="ctr">
                        <a:lnSpc>
                          <a:spcPts val="3640"/>
                        </a:lnSpc>
                        <a:defRPr/>
                      </a:pPr>
                      <a:r>
                        <a:rPr lang="en-US" sz="2600">
                          <a:solidFill>
                            <a:srgbClr val="000000"/>
                          </a:solidFill>
                          <a:latin typeface="Antonio"/>
                          <a:ea typeface="Antonio"/>
                          <a:cs typeface="Antonio"/>
                          <a:sym typeface="Antonio"/>
                        </a:rPr>
                        <a:t>U para revelar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000000"/>
                          </a:solidFill>
                          <a:latin typeface="Antonio"/>
                          <a:ea typeface="Antonio"/>
                          <a:cs typeface="Antonio"/>
                          <a:sym typeface="Antonio"/>
                        </a:rPr>
                        <a:t>Cualquier número del 0 al 9</a:t>
                      </a:r>
                      <a:endParaRPr lang="en-US" sz="1100"/>
                    </a:p>
                    <a:p>
                      <a:pPr algn="ctr">
                        <a:lnSpc>
                          <a:spcPts val="3640"/>
                        </a:lnSpc>
                      </a:pPr>
                      <a:r>
                        <a:rPr lang="en-US" sz="2600">
                          <a:solidFill>
                            <a:srgbClr val="000000"/>
                          </a:solidFill>
                          <a:latin typeface="Antonio"/>
                          <a:ea typeface="Antonio"/>
                          <a:cs typeface="Antonio"/>
                          <a:sym typeface="Antonio"/>
                        </a:rPr>
                        <a:t>para un temporizador</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225510" y="2372181"/>
            <a:ext cx="6513055" cy="1479163"/>
          </a:xfrm>
          <a:prstGeom prst="rect">
            <a:avLst/>
          </a:prstGeom>
        </p:spPr>
        <p:txBody>
          <a:bodyPr anchor="t" rtlCol="false" tIns="0" lIns="0" bIns="0" rIns="0">
            <a:spAutoFit/>
          </a:bodyPr>
          <a:lstStyle/>
          <a:p>
            <a:pPr algn="l" marL="0" indent="0" lvl="0">
              <a:lnSpc>
                <a:spcPts val="11330"/>
              </a:lnSpc>
              <a:spcBef>
                <a:spcPct val="0"/>
              </a:spcBef>
            </a:pPr>
            <a:r>
              <a:rPr lang="en-US" sz="10689">
                <a:solidFill>
                  <a:srgbClr val="000000"/>
                </a:solidFill>
                <a:latin typeface="Antonio"/>
                <a:ea typeface="Antonio"/>
                <a:cs typeface="Antonio"/>
                <a:sym typeface="Antonio"/>
              </a:rPr>
              <a:t>METODOLOGÍA</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86266" y="-177800"/>
            <a:ext cx="14801734" cy="2727326"/>
          </a:xfrm>
          <a:prstGeom prst="rect">
            <a:avLst/>
          </a:prstGeom>
        </p:spPr>
        <p:txBody>
          <a:bodyPr anchor="t" rtlCol="false" tIns="0" lIns="0" bIns="0" rIns="0">
            <a:spAutoFit/>
          </a:bodyPr>
          <a:lstStyle/>
          <a:p>
            <a:pPr algn="r"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GRACIAS</a:t>
            </a:r>
          </a:p>
        </p:txBody>
      </p:sp>
      <p:sp>
        <p:nvSpPr>
          <p:cNvPr name="TextBox 3" id="3"/>
          <p:cNvSpPr txBox="true"/>
          <p:nvPr/>
        </p:nvSpPr>
        <p:spPr>
          <a:xfrm rot="0">
            <a:off x="2225510" y="4643542"/>
            <a:ext cx="6513055" cy="449580"/>
          </a:xfrm>
          <a:prstGeom prst="rect">
            <a:avLst/>
          </a:prstGeom>
        </p:spPr>
        <p:txBody>
          <a:bodyPr anchor="t" rtlCol="false" tIns="0" lIns="0" bIns="0" rIns="0">
            <a:spAutoFit/>
          </a:bodyPr>
          <a:lstStyle/>
          <a:p>
            <a:pPr algn="l" marL="0" indent="0" lvl="0">
              <a:lnSpc>
                <a:spcPts val="3509"/>
              </a:lnSpc>
              <a:spcBef>
                <a:spcPct val="0"/>
              </a:spcBef>
            </a:pPr>
            <a:r>
              <a:rPr lang="en-US" sz="3000">
                <a:solidFill>
                  <a:srgbClr val="000000"/>
                </a:solidFill>
                <a:latin typeface="Antonio"/>
                <a:ea typeface="Antonio"/>
                <a:cs typeface="Antonio"/>
                <a:sym typeface="Antonio"/>
              </a:rPr>
              <a:t>hola@sitioincreible.com</a:t>
            </a:r>
          </a:p>
        </p:txBody>
      </p:sp>
      <p:sp>
        <p:nvSpPr>
          <p:cNvPr name="TextBox 4" id="4"/>
          <p:cNvSpPr txBox="true"/>
          <p:nvPr/>
        </p:nvSpPr>
        <p:spPr>
          <a:xfrm rot="0">
            <a:off x="2225510" y="6127016"/>
            <a:ext cx="6513055" cy="449580"/>
          </a:xfrm>
          <a:prstGeom prst="rect">
            <a:avLst/>
          </a:prstGeom>
        </p:spPr>
        <p:txBody>
          <a:bodyPr anchor="t" rtlCol="false" tIns="0" lIns="0" bIns="0" rIns="0">
            <a:spAutoFit/>
          </a:bodyPr>
          <a:lstStyle/>
          <a:p>
            <a:pPr algn="l" marL="0" indent="0" lvl="0">
              <a:lnSpc>
                <a:spcPts val="3509"/>
              </a:lnSpc>
              <a:spcBef>
                <a:spcPct val="0"/>
              </a:spcBef>
            </a:pPr>
            <a:r>
              <a:rPr lang="en-US" sz="3000" strike="noStrike" u="none">
                <a:solidFill>
                  <a:srgbClr val="000000"/>
                </a:solidFill>
                <a:latin typeface="Antonio"/>
                <a:ea typeface="Antonio"/>
                <a:cs typeface="Antonio"/>
                <a:sym typeface="Antonio"/>
              </a:rPr>
              <a:t>@sitioincreible</a:t>
            </a:r>
          </a:p>
        </p:txBody>
      </p:sp>
      <p:sp>
        <p:nvSpPr>
          <p:cNvPr name="TextBox 5" id="5"/>
          <p:cNvSpPr txBox="true"/>
          <p:nvPr/>
        </p:nvSpPr>
        <p:spPr>
          <a:xfrm rot="0">
            <a:off x="2225510" y="4028678"/>
            <a:ext cx="6513055" cy="508635"/>
          </a:xfrm>
          <a:prstGeom prst="rect">
            <a:avLst/>
          </a:prstGeom>
        </p:spPr>
        <p:txBody>
          <a:bodyPr anchor="t" rtlCol="false" tIns="0" lIns="0" bIns="0" rIns="0">
            <a:spAutoFit/>
          </a:bodyPr>
          <a:lstStyle/>
          <a:p>
            <a:pPr algn="l" marL="0" indent="0" lvl="0">
              <a:lnSpc>
                <a:spcPts val="4095"/>
              </a:lnSpc>
              <a:spcBef>
                <a:spcPct val="0"/>
              </a:spcBef>
            </a:pPr>
            <a:r>
              <a:rPr lang="en-US" b="true" sz="3500">
                <a:solidFill>
                  <a:srgbClr val="000000"/>
                </a:solidFill>
                <a:latin typeface="Antonio Ultra-Bold"/>
                <a:ea typeface="Antonio Ultra-Bold"/>
                <a:cs typeface="Antonio Ultra-Bold"/>
                <a:sym typeface="Antonio Ultra-Bold"/>
              </a:rPr>
              <a:t>EMAIL</a:t>
            </a:r>
          </a:p>
        </p:txBody>
      </p:sp>
      <p:sp>
        <p:nvSpPr>
          <p:cNvPr name="TextBox 6" id="6"/>
          <p:cNvSpPr txBox="true"/>
          <p:nvPr/>
        </p:nvSpPr>
        <p:spPr>
          <a:xfrm rot="0">
            <a:off x="2225510" y="5513606"/>
            <a:ext cx="3668854" cy="508635"/>
          </a:xfrm>
          <a:prstGeom prst="rect">
            <a:avLst/>
          </a:prstGeom>
        </p:spPr>
        <p:txBody>
          <a:bodyPr anchor="t" rtlCol="false" tIns="0" lIns="0" bIns="0" rIns="0">
            <a:spAutoFit/>
          </a:bodyPr>
          <a:lstStyle/>
          <a:p>
            <a:pPr algn="l" marL="0" indent="0" lvl="0">
              <a:lnSpc>
                <a:spcPts val="4095"/>
              </a:lnSpc>
              <a:spcBef>
                <a:spcPct val="0"/>
              </a:spcBef>
            </a:pPr>
            <a:r>
              <a:rPr lang="en-US" b="true" sz="3500">
                <a:solidFill>
                  <a:srgbClr val="000000"/>
                </a:solidFill>
                <a:latin typeface="Antonio Ultra-Bold"/>
                <a:ea typeface="Antonio Ultra-Bold"/>
                <a:cs typeface="Antonio Ultra-Bold"/>
                <a:sym typeface="Antonio Ultra-Bold"/>
              </a:rPr>
              <a:t>SOCIAL MEDIA</a:t>
            </a:r>
          </a:p>
        </p:txBody>
      </p:sp>
      <p:sp>
        <p:nvSpPr>
          <p:cNvPr name="TextBox 7" id="7"/>
          <p:cNvSpPr txBox="true"/>
          <p:nvPr/>
        </p:nvSpPr>
        <p:spPr>
          <a:xfrm rot="0">
            <a:off x="2225510" y="7608114"/>
            <a:ext cx="6513055" cy="449580"/>
          </a:xfrm>
          <a:prstGeom prst="rect">
            <a:avLst/>
          </a:prstGeom>
        </p:spPr>
        <p:txBody>
          <a:bodyPr anchor="t" rtlCol="false" tIns="0" lIns="0" bIns="0" rIns="0">
            <a:spAutoFit/>
          </a:bodyPr>
          <a:lstStyle/>
          <a:p>
            <a:pPr algn="l" marL="0" indent="0" lvl="0">
              <a:lnSpc>
                <a:spcPts val="3509"/>
              </a:lnSpc>
              <a:spcBef>
                <a:spcPct val="0"/>
              </a:spcBef>
            </a:pPr>
            <a:r>
              <a:rPr lang="en-US" sz="3000">
                <a:solidFill>
                  <a:srgbClr val="000000"/>
                </a:solidFill>
                <a:latin typeface="Antonio"/>
                <a:ea typeface="Antonio"/>
                <a:cs typeface="Antonio"/>
                <a:sym typeface="Antonio"/>
              </a:rPr>
              <a:t>(55) 1234-5678</a:t>
            </a:r>
          </a:p>
        </p:txBody>
      </p:sp>
      <p:sp>
        <p:nvSpPr>
          <p:cNvPr name="TextBox 8" id="8"/>
          <p:cNvSpPr txBox="true"/>
          <p:nvPr/>
        </p:nvSpPr>
        <p:spPr>
          <a:xfrm rot="0">
            <a:off x="2225510" y="6994704"/>
            <a:ext cx="3668854" cy="508635"/>
          </a:xfrm>
          <a:prstGeom prst="rect">
            <a:avLst/>
          </a:prstGeom>
        </p:spPr>
        <p:txBody>
          <a:bodyPr anchor="t" rtlCol="false" tIns="0" lIns="0" bIns="0" rIns="0">
            <a:spAutoFit/>
          </a:bodyPr>
          <a:lstStyle/>
          <a:p>
            <a:pPr algn="l" marL="0" indent="0" lvl="0">
              <a:lnSpc>
                <a:spcPts val="4095"/>
              </a:lnSpc>
              <a:spcBef>
                <a:spcPct val="0"/>
              </a:spcBef>
            </a:pPr>
            <a:r>
              <a:rPr lang="en-US" b="true" sz="3500">
                <a:solidFill>
                  <a:srgbClr val="000000"/>
                </a:solidFill>
                <a:latin typeface="Antonio Ultra-Bold"/>
                <a:ea typeface="Antonio Ultra-Bold"/>
                <a:cs typeface="Antonio Ultra-Bold"/>
                <a:sym typeface="Antonio Ultra-Bold"/>
              </a:rPr>
              <a:t>TELÉFONO</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25510" y="2002612"/>
            <a:ext cx="6513055" cy="2923733"/>
          </a:xfrm>
          <a:prstGeom prst="rect">
            <a:avLst/>
          </a:prstGeom>
        </p:spPr>
        <p:txBody>
          <a:bodyPr anchor="t" rtlCol="false" tIns="0" lIns="0" bIns="0" rIns="0">
            <a:spAutoFit/>
          </a:bodyPr>
          <a:lstStyle/>
          <a:p>
            <a:pPr algn="l">
              <a:lnSpc>
                <a:spcPts val="11330"/>
              </a:lnSpc>
            </a:pPr>
            <a:r>
              <a:rPr lang="en-US" sz="10689">
                <a:solidFill>
                  <a:srgbClr val="000000"/>
                </a:solidFill>
                <a:latin typeface="Antonio"/>
                <a:ea typeface="Antonio"/>
                <a:cs typeface="Antonio"/>
                <a:sym typeface="Antonio"/>
              </a:rPr>
              <a:t>PÁGINA DE RECURSOS</a:t>
            </a:r>
          </a:p>
        </p:txBody>
      </p:sp>
      <p:graphicFrame>
        <p:nvGraphicFramePr>
          <p:cNvPr name="Table 3" id="3"/>
          <p:cNvGraphicFramePr>
            <a:graphicFrameLocks noGrp="true"/>
          </p:cNvGraphicFramePr>
          <p:nvPr/>
        </p:nvGraphicFramePr>
        <p:xfrm>
          <a:off x="9549435" y="1859737"/>
          <a:ext cx="7370137" cy="6567526"/>
        </p:xfrm>
        <a:graphic>
          <a:graphicData uri="http://schemas.openxmlformats.org/drawingml/2006/table">
            <a:tbl>
              <a:tblPr/>
              <a:tblGrid>
                <a:gridCol w="5686503"/>
              </a:tblGrid>
              <a:tr h="1153016">
                <a:tc>
                  <a:txBody>
                    <a:bodyPr anchor="t" rtlCol="false"/>
                    <a:lstStyle/>
                    <a:p>
                      <a:pPr algn="ctr">
                        <a:lnSpc>
                          <a:spcPts val="2520"/>
                        </a:lnSpc>
                        <a:defRPr/>
                      </a:pPr>
                      <a:r>
                        <a:rPr lang="en-US" sz="1800">
                          <a:solidFill>
                            <a:srgbClr val="000000"/>
                          </a:solidFill>
                          <a:latin typeface="Antonio"/>
                          <a:ea typeface="Antonio"/>
                          <a:cs typeface="Antonio"/>
                          <a:sym typeface="Antonio"/>
                        </a:rPr>
                        <a:t>Haz clic en el botón Compartir en la esquina superior derecha</a:t>
                      </a:r>
                      <a:endParaRPr lang="en-US" sz="1100"/>
                    </a:p>
                    <a:p>
                      <a:pPr algn="ctr">
                        <a:lnSpc>
                          <a:spcPts val="2520"/>
                        </a:lnSpc>
                      </a:pPr>
                      <a:r>
                        <a:rPr lang="en-US" sz="1800">
                          <a:solidFill>
                            <a:srgbClr val="000000"/>
                          </a:solidFill>
                          <a:latin typeface="Antonio"/>
                          <a:ea typeface="Antonio"/>
                          <a:cs typeface="Antonio"/>
                          <a:sym typeface="Antonio"/>
                        </a:rPr>
                        <a:t>de tu pantalla y selecciona 'Presentar y grabar'.</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53016">
                <a:tc>
                  <a:txBody>
                    <a:bodyPr anchor="t" rtlCol="false"/>
                    <a:lstStyle/>
                    <a:p>
                      <a:pPr algn="ctr">
                        <a:lnSpc>
                          <a:spcPts val="2520"/>
                        </a:lnSpc>
                        <a:defRPr/>
                      </a:pPr>
                      <a:r>
                        <a:rPr lang="en-US" sz="1800">
                          <a:solidFill>
                            <a:srgbClr val="000000"/>
                          </a:solidFill>
                          <a:latin typeface="Antonio"/>
                          <a:ea typeface="Antonio"/>
                          <a:cs typeface="Antonio"/>
                          <a:sym typeface="Antonio"/>
                        </a:rPr>
                        <a:t>Haz clic en 'Ir al estudio de grabación', donde puedes elegir el video</a:t>
                      </a:r>
                      <a:endParaRPr lang="en-US" sz="1100"/>
                    </a:p>
                    <a:p>
                      <a:pPr algn="ctr">
                        <a:lnSpc>
                          <a:spcPts val="2520"/>
                        </a:lnSpc>
                      </a:pPr>
                      <a:r>
                        <a:rPr lang="en-US" sz="1800">
                          <a:solidFill>
                            <a:srgbClr val="000000"/>
                          </a:solidFill>
                          <a:latin typeface="Antonio"/>
                          <a:ea typeface="Antonio"/>
                          <a:cs typeface="Antonio"/>
                          <a:sym typeface="Antonio"/>
                        </a:rPr>
                        <a:t>y fuente de audio para tu presentación de video.</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91723">
                <a:tc>
                  <a:txBody>
                    <a:bodyPr anchor="t" rtlCol="false"/>
                    <a:lstStyle/>
                    <a:p>
                      <a:pPr algn="ctr">
                        <a:lnSpc>
                          <a:spcPts val="2520"/>
                        </a:lnSpc>
                        <a:defRPr/>
                      </a:pPr>
                      <a:r>
                        <a:rPr lang="en-US" sz="1800">
                          <a:solidFill>
                            <a:srgbClr val="000000"/>
                          </a:solidFill>
                          <a:latin typeface="Antonio"/>
                          <a:ea typeface="Antonio"/>
                          <a:cs typeface="Antonio"/>
                          <a:sym typeface="Antonio"/>
                        </a:rPr>
                        <a:t>Siéntete libre de elegir la opción 'Sin cámara' y grabar solo tu voz.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91723">
                <a:tc>
                  <a:txBody>
                    <a:bodyPr anchor="t" rtlCol="false"/>
                    <a:lstStyle/>
                    <a:p>
                      <a:pPr algn="ctr">
                        <a:lnSpc>
                          <a:spcPts val="2520"/>
                        </a:lnSpc>
                        <a:defRPr/>
                      </a:pPr>
                      <a:r>
                        <a:rPr lang="en-US" sz="1800">
                          <a:solidFill>
                            <a:srgbClr val="000000"/>
                          </a:solidFill>
                          <a:latin typeface="Antonio"/>
                          <a:ea typeface="Antonio"/>
                          <a:cs typeface="Antonio"/>
                          <a:sym typeface="Antonio"/>
                        </a:rPr>
                        <a:t>Comienza a grabar y, si es necesario, presiona pausa entre tomas.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525031">
                <a:tc>
                  <a:txBody>
                    <a:bodyPr anchor="t" rtlCol="false"/>
                    <a:lstStyle/>
                    <a:p>
                      <a:pPr algn="ctr">
                        <a:lnSpc>
                          <a:spcPts val="2520"/>
                        </a:lnSpc>
                        <a:defRPr/>
                      </a:pPr>
                      <a:r>
                        <a:rPr lang="en-US" sz="1800">
                          <a:solidFill>
                            <a:srgbClr val="000000"/>
                          </a:solidFill>
                          <a:latin typeface="Antonio"/>
                          <a:ea typeface="Antonio"/>
                          <a:cs typeface="Antonio"/>
                          <a:sym typeface="Antonio"/>
                        </a:rPr>
                        <a:t>Una vez que hayas terminado, descarga tu presentación en formato MP4</a:t>
                      </a:r>
                      <a:endParaRPr lang="en-US" sz="1100"/>
                    </a:p>
                    <a:p>
                      <a:pPr algn="ctr">
                        <a:lnSpc>
                          <a:spcPts val="2520"/>
                        </a:lnSpc>
                      </a:pPr>
                      <a:r>
                        <a:rPr lang="en-US" sz="1800">
                          <a:solidFill>
                            <a:srgbClr val="000000"/>
                          </a:solidFill>
                          <a:latin typeface="Antonio"/>
                          <a:ea typeface="Antonio"/>
                          <a:cs typeface="Antonio"/>
                          <a:sym typeface="Antonio"/>
                        </a:rPr>
                        <a:t>u obtén un enlace a tu Presentación grabada y compártela con otros. </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53016">
                <a:tc>
                  <a:txBody>
                    <a:bodyPr anchor="t" rtlCol="false"/>
                    <a:lstStyle/>
                    <a:p>
                      <a:pPr algn="ctr">
                        <a:lnSpc>
                          <a:spcPts val="2520"/>
                        </a:lnSpc>
                        <a:defRPr/>
                      </a:pPr>
                      <a:r>
                        <a:rPr lang="en-US" sz="1800">
                          <a:solidFill>
                            <a:srgbClr val="000000"/>
                          </a:solidFill>
                          <a:latin typeface="Antonio"/>
                          <a:ea typeface="Antonio"/>
                          <a:cs typeface="Antonio"/>
                          <a:sym typeface="Antonio"/>
                        </a:rPr>
                        <a:t>¡También puedes grabar un video dentro del editor! En el menú, haz clic en 'Subidos' y luego haz clic en 'Grabar usted mismo'.</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225510" y="6142215"/>
            <a:ext cx="6173481" cy="2285047"/>
          </a:xfrm>
          <a:prstGeom prst="rect">
            <a:avLst/>
          </a:prstGeom>
        </p:spPr>
        <p:txBody>
          <a:bodyPr anchor="t" rtlCol="false" tIns="0" lIns="0" bIns="0" rIns="0">
            <a:spAutoFit/>
          </a:bodyPr>
          <a:lstStyle/>
          <a:p>
            <a:pPr algn="l">
              <a:lnSpc>
                <a:spcPts val="3022"/>
              </a:lnSpc>
            </a:pPr>
            <a:r>
              <a:rPr lang="en-US" sz="2325">
                <a:solidFill>
                  <a:srgbClr val="000000"/>
                </a:solidFill>
                <a:latin typeface="Antonio"/>
                <a:ea typeface="Antonio"/>
                <a:cs typeface="Antonio"/>
                <a:sym typeface="Antonio"/>
              </a:rPr>
              <a:t>¿Presentar en vivo no es lo tuyo? ¡No hay problema! Graba tu presentación para que tu audiencia la pueda ver a su propio ritmo.</a:t>
            </a:r>
          </a:p>
          <a:p>
            <a:pPr algn="l">
              <a:lnSpc>
                <a:spcPts val="3022"/>
              </a:lnSpc>
            </a:pPr>
          </a:p>
          <a:p>
            <a:pPr algn="l">
              <a:lnSpc>
                <a:spcPts val="3022"/>
              </a:lnSpc>
            </a:pPr>
            <a:r>
              <a:rPr lang="en-US" sz="2325">
                <a:solidFill>
                  <a:srgbClr val="000000"/>
                </a:solidFill>
                <a:latin typeface="Antonio"/>
                <a:ea typeface="Antonio"/>
                <a:cs typeface="Antonio"/>
                <a:sym typeface="Antonio"/>
              </a:rPr>
              <a:t>No olvides borrar u ocultar esta página antes de presentarla.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DAHVoFa-JxM</dc:identifier>
  <dcterms:modified xsi:type="dcterms:W3CDTF">2011-08-01T06:04:30Z</dcterms:modified>
  <cp:revision>1</cp:revision>
  <dc:title>26AD_Fundamentos - INTRO G1</dc:title>
</cp:coreProperties>
</file>